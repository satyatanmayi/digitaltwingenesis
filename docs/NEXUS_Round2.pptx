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1874519"/>
            <a:ext cx="2011680" cy="3200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148840"/>
            <a:ext cx="10607040" cy="1280160"/>
          </a:xfrm>
          <a:prstGeom prst="rect">
            <a:avLst/>
          </a:prstGeom>
          <a:noFill/>
        </p:spPr>
        <p:txBody>
          <a:bodyPr wrap="square" anchor="t">
            <a:spAutoFit/>
          </a:bodyPr>
          <a:lstStyle/>
          <a:p>
            <a:pPr algn="l">
              <a:lnSpc>
                <a:spcPct val="115000"/>
              </a:lnSpc>
            </a:pPr>
            <a:r>
              <a:rPr sz="5200" b="1" i="0">
                <a:solidFill>
                  <a:srgbClr val="E8ECF2"/>
                </a:solidFill>
                <a:latin typeface="Segoe UI"/>
              </a:rPr>
              <a:t>A place to try a traffic decision</a:t>
            </a:r>
          </a:p>
        </p:txBody>
      </p:sp>
      <p:sp>
        <p:nvSpPr>
          <p:cNvPr id="5" name="TextBox 4"/>
          <p:cNvSpPr txBox="1"/>
          <p:nvPr/>
        </p:nvSpPr>
        <p:spPr>
          <a:xfrm>
            <a:off x="777240" y="3246120"/>
            <a:ext cx="10607040" cy="914400"/>
          </a:xfrm>
          <a:prstGeom prst="rect">
            <a:avLst/>
          </a:prstGeom>
          <a:noFill/>
        </p:spPr>
        <p:txBody>
          <a:bodyPr wrap="square" anchor="t">
            <a:spAutoFit/>
          </a:bodyPr>
          <a:lstStyle/>
          <a:p>
            <a:pPr algn="l">
              <a:lnSpc>
                <a:spcPct val="115000"/>
              </a:lnSpc>
            </a:pPr>
            <a:r>
              <a:rPr sz="5200" b="1" i="0">
                <a:solidFill>
                  <a:srgbClr val="F5A524"/>
                </a:solidFill>
                <a:latin typeface="Segoe UI"/>
              </a:rPr>
              <a:t>before you make it</a:t>
            </a:r>
          </a:p>
        </p:txBody>
      </p:sp>
      <p:sp>
        <p:nvSpPr>
          <p:cNvPr id="6" name="TextBox 5"/>
          <p:cNvSpPr txBox="1"/>
          <p:nvPr/>
        </p:nvSpPr>
        <p:spPr>
          <a:xfrm>
            <a:off x="777240" y="4434840"/>
            <a:ext cx="10607040" cy="548640"/>
          </a:xfrm>
          <a:prstGeom prst="rect">
            <a:avLst/>
          </a:prstGeom>
          <a:noFill/>
        </p:spPr>
        <p:txBody>
          <a:bodyPr wrap="square" anchor="t">
            <a:spAutoFit/>
          </a:bodyPr>
          <a:lstStyle/>
          <a:p>
            <a:pPr algn="l">
              <a:lnSpc>
                <a:spcPct val="115000"/>
              </a:lnSpc>
            </a:pPr>
            <a:r>
              <a:rPr sz="1900" b="0" i="0">
                <a:solidFill>
                  <a:srgbClr val="8A94A6"/>
                </a:solidFill>
                <a:latin typeface="Segoe UI"/>
              </a:rPr>
              <a:t>Digital twin of a signalised intersection network</a:t>
            </a:r>
          </a:p>
        </p:txBody>
      </p:sp>
      <p:sp>
        <p:nvSpPr>
          <p:cNvPr id="7" name="TextBox 6"/>
          <p:cNvSpPr txBox="1"/>
          <p:nvPr/>
        </p:nvSpPr>
        <p:spPr>
          <a:xfrm>
            <a:off x="777240" y="5715000"/>
            <a:ext cx="10607040" cy="731520"/>
          </a:xfrm>
          <a:prstGeom prst="rect">
            <a:avLst/>
          </a:prstGeom>
          <a:noFill/>
        </p:spPr>
        <p:txBody>
          <a:bodyPr wrap="square" anchor="t">
            <a:spAutoFit/>
          </a:bodyPr>
          <a:lstStyle/>
          <a:p>
            <a:pPr algn="l">
              <a:lnSpc>
                <a:spcPct val="115000"/>
              </a:lnSpc>
            </a:pPr>
            <a:r>
              <a:rPr sz="1300" b="1" i="0">
                <a:solidFill>
                  <a:srgbClr val="8A94A6"/>
                </a:solidFill>
                <a:latin typeface="Consolas"/>
              </a:rPr>
              <a:t>TEAM NEXUS    ·    PROBLEM STATEMENT 4    ·    IEEE GENESIS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WHY THIS PROBLEM</a:t>
            </a:r>
          </a:p>
        </p:txBody>
      </p:sp>
      <p:sp>
        <p:nvSpPr>
          <p:cNvPr id="4" name="TextBox 3"/>
          <p:cNvSpPr txBox="1"/>
          <p:nvPr/>
        </p:nvSpPr>
        <p:spPr>
          <a:xfrm>
            <a:off x="777240" y="1463040"/>
            <a:ext cx="10607040" cy="2743200"/>
          </a:xfrm>
          <a:prstGeom prst="rect">
            <a:avLst/>
          </a:prstGeom>
          <a:noFill/>
        </p:spPr>
        <p:txBody>
          <a:bodyPr wrap="square" anchor="t">
            <a:spAutoFit/>
          </a:bodyPr>
          <a:lstStyle/>
          <a:p>
            <a:pPr algn="l">
              <a:lnSpc>
                <a:spcPct val="120000"/>
              </a:lnSpc>
            </a:pPr>
            <a:r>
              <a:rPr sz="4000" b="1" i="0">
                <a:solidFill>
                  <a:srgbClr val="E8ECF2"/>
                </a:solidFill>
                <a:latin typeface="Segoe UI"/>
              </a:rPr>
              <a:t>In India most families do not wait</a:t>
            </a:r>
          </a:p>
          <a:p>
            <a:pPr algn="l">
              <a:lnSpc>
                <a:spcPct val="120000"/>
              </a:lnSpc>
            </a:pPr>
            <a:r>
              <a:rPr sz="4000" b="1" i="0">
                <a:solidFill>
                  <a:srgbClr val="E8ECF2"/>
                </a:solidFill>
                <a:latin typeface="Segoe UI"/>
              </a:rPr>
              <a:t>for an ambulance. They drive.</a:t>
            </a:r>
          </a:p>
        </p:txBody>
      </p:sp>
      <p:sp>
        <p:nvSpPr>
          <p:cNvPr id="5" name="TextBox 4"/>
          <p:cNvSpPr txBox="1"/>
          <p:nvPr/>
        </p:nvSpPr>
        <p:spPr>
          <a:xfrm>
            <a:off x="777240" y="3566160"/>
            <a:ext cx="9601200" cy="1828800"/>
          </a:xfrm>
          <a:prstGeom prst="rect">
            <a:avLst/>
          </a:prstGeom>
          <a:noFill/>
        </p:spPr>
        <p:txBody>
          <a:bodyPr wrap="square" anchor="t">
            <a:spAutoFit/>
          </a:bodyPr>
          <a:lstStyle/>
          <a:p>
            <a:pPr algn="l">
              <a:lnSpc>
                <a:spcPct val="135000"/>
              </a:lnSpc>
            </a:pPr>
            <a:r>
              <a:rPr sz="1900" b="0" i="0">
                <a:solidFill>
                  <a:srgbClr val="8A94A6"/>
                </a:solidFill>
                <a:latin typeface="Segoe UI"/>
              </a:rPr>
              <a:t>That happened in my family, with my grandmother.</a:t>
            </a:r>
          </a:p>
          <a:p>
            <a:pPr algn="l">
              <a:lnSpc>
                <a:spcPct val="135000"/>
              </a:lnSpc>
            </a:pPr>
            <a:r>
              <a:rPr sz="1900" b="0" i="0">
                <a:solidFill>
                  <a:srgbClr val="8A94A6"/>
                </a:solidFill>
                <a:latin typeface="Segoe UI"/>
              </a:rPr>
              <a:t/>
            </a:r>
          </a:p>
          <a:p>
            <a:pPr algn="l">
              <a:lnSpc>
                <a:spcPct val="135000"/>
              </a:lnSpc>
            </a:pPr>
            <a:r>
              <a:rPr sz="1900" b="0" i="0">
                <a:solidFill>
                  <a:srgbClr val="8A94A6"/>
                </a:solidFill>
                <a:latin typeface="Segoe UI"/>
              </a:rPr>
              <a:t>The car was not slow. The time was lost standing still, at one red</a:t>
            </a:r>
          </a:p>
          <a:p>
            <a:pPr algn="l">
              <a:lnSpc>
                <a:spcPct val="135000"/>
              </a:lnSpc>
            </a:pPr>
            <a:r>
              <a:rPr sz="1900" b="0" i="0">
                <a:solidFill>
                  <a:srgbClr val="8A94A6"/>
                </a:solidFill>
                <a:latin typeface="Segoe UI"/>
              </a:rPr>
              <a:t>light after another. A ten kilometre drive across this city crosses</a:t>
            </a:r>
          </a:p>
          <a:p>
            <a:pPr algn="l">
              <a:lnSpc>
                <a:spcPct val="135000"/>
              </a:lnSpc>
            </a:pPr>
            <a:r>
              <a:rPr sz="1900" b="0" i="0">
                <a:solidFill>
                  <a:srgbClr val="8A94A6"/>
                </a:solidFill>
                <a:latin typeface="Segoe UI"/>
              </a:rPr>
              <a:t>eight to twelve signalled junctions.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AND THEN IT HIT A WALL</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4000" b="1" i="0">
                <a:solidFill>
                  <a:srgbClr val="E8ECF2"/>
                </a:solidFill>
                <a:latin typeface="Segoe UI"/>
              </a:rPr>
              <a:t>Not a technical wall. A trust wall.</a:t>
            </a:r>
          </a:p>
        </p:txBody>
      </p:sp>
      <p:sp>
        <p:nvSpPr>
          <p:cNvPr id="5" name="TextBox 4"/>
          <p:cNvSpPr txBox="1"/>
          <p:nvPr/>
        </p:nvSpPr>
        <p:spPr>
          <a:xfrm>
            <a:off x="777240" y="2286000"/>
            <a:ext cx="10607040" cy="1280160"/>
          </a:xfrm>
          <a:prstGeom prst="rect">
            <a:avLst/>
          </a:prstGeom>
          <a:noFill/>
        </p:spPr>
        <p:txBody>
          <a:bodyPr wrap="square" anchor="t">
            <a:spAutoFit/>
          </a:bodyPr>
          <a:lstStyle/>
          <a:p>
            <a:pPr algn="l">
              <a:lnSpc>
                <a:spcPct val="115000"/>
              </a:lnSpc>
            </a:pPr>
            <a:r>
              <a:rPr sz="2200" b="0" i="0">
                <a:solidFill>
                  <a:srgbClr val="8A94A6"/>
                </a:solidFill>
                <a:latin typeface="Segoe UI"/>
              </a:rPr>
              <a:t>If you give one vehicle priority, somebody else pays for it in waiting time.</a:t>
            </a:r>
          </a:p>
        </p:txBody>
      </p:sp>
      <p:sp>
        <p:nvSpPr>
          <p:cNvPr id="6" name="Rounded Rectangle 5"/>
          <p:cNvSpPr/>
          <p:nvPr/>
        </p:nvSpPr>
        <p:spPr>
          <a:xfrm>
            <a:off x="777240" y="3200400"/>
            <a:ext cx="10607040" cy="1463040"/>
          </a:xfrm>
          <a:prstGeom prst="roundRect">
            <a:avLst/>
          </a:prstGeom>
          <a:solidFill>
            <a:srgbClr val="20180A"/>
          </a:solidFill>
          <a:ln w="1905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20" y="3520440"/>
            <a:ext cx="9784080" cy="914400"/>
          </a:xfrm>
          <a:prstGeom prst="rect">
            <a:avLst/>
          </a:prstGeom>
          <a:noFill/>
        </p:spPr>
        <p:txBody>
          <a:bodyPr wrap="square" anchor="t">
            <a:spAutoFit/>
          </a:bodyPr>
          <a:lstStyle/>
          <a:p>
            <a:pPr algn="ctr">
              <a:lnSpc>
                <a:spcPct val="115000"/>
              </a:lnSpc>
            </a:pPr>
            <a:r>
              <a:rPr sz="3200" b="1" i="0">
                <a:solidFill>
                  <a:srgbClr val="F5A524"/>
                </a:solidFill>
                <a:latin typeface="Segoe UI"/>
              </a:rPr>
              <a:t>"What will this cost my network?"</a:t>
            </a:r>
          </a:p>
        </p:txBody>
      </p:sp>
      <p:sp>
        <p:nvSpPr>
          <p:cNvPr id="8" name="TextBox 7"/>
          <p:cNvSpPr txBox="1"/>
          <p:nvPr/>
        </p:nvSpPr>
        <p:spPr>
          <a:xfrm>
            <a:off x="777240" y="5029200"/>
            <a:ext cx="10607040" cy="1097280"/>
          </a:xfrm>
          <a:prstGeom prst="rect">
            <a:avLst/>
          </a:prstGeom>
          <a:noFill/>
        </p:spPr>
        <p:txBody>
          <a:bodyPr wrap="square" anchor="t">
            <a:spAutoFit/>
          </a:bodyPr>
          <a:lstStyle/>
          <a:p>
            <a:pPr algn="l">
              <a:lnSpc>
                <a:spcPct val="130000"/>
              </a:lnSpc>
            </a:pPr>
            <a:r>
              <a:rPr sz="2200" b="0" i="0">
                <a:solidFill>
                  <a:srgbClr val="E8ECF2"/>
                </a:solidFill>
                <a:latin typeface="Segoe UI"/>
              </a:rPr>
              <a:t>Nobody could answer that, because there was nowhere to try it.</a:t>
            </a:r>
          </a:p>
          <a:p>
            <a:pPr algn="l">
              <a:lnSpc>
                <a:spcPct val="130000"/>
              </a:lnSpc>
            </a:pPr>
            <a:r>
              <a:rPr sz="2200" b="0" i="0">
                <a:solidFill>
                  <a:srgbClr val="E8ECF2"/>
                </a:solidFill>
                <a:latin typeface="Segoe UI"/>
              </a:rPr>
              <a:t>So I built the place to try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WHAT IT IS</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4000" b="1" i="0">
                <a:solidFill>
                  <a:srgbClr val="E8ECF2"/>
                </a:solidFill>
                <a:latin typeface="Segoe UI"/>
              </a:rPr>
              <a:t>Three things, and only three</a:t>
            </a:r>
          </a:p>
        </p:txBody>
      </p:sp>
      <p:sp>
        <p:nvSpPr>
          <p:cNvPr id="5" name="TextBox 4"/>
          <p:cNvSpPr txBox="1"/>
          <p:nvPr/>
        </p:nvSpPr>
        <p:spPr>
          <a:xfrm>
            <a:off x="777240" y="1965960"/>
            <a:ext cx="548640" cy="548640"/>
          </a:xfrm>
          <a:prstGeom prst="rect">
            <a:avLst/>
          </a:prstGeom>
          <a:noFill/>
        </p:spPr>
        <p:txBody>
          <a:bodyPr wrap="square" anchor="t">
            <a:spAutoFit/>
          </a:bodyPr>
          <a:lstStyle/>
          <a:p>
            <a:pPr algn="l">
              <a:lnSpc>
                <a:spcPct val="115000"/>
              </a:lnSpc>
            </a:pPr>
            <a:r>
              <a:rPr sz="2800" b="1" i="0">
                <a:solidFill>
                  <a:srgbClr val="F5A524"/>
                </a:solidFill>
                <a:latin typeface="Consolas"/>
              </a:rPr>
              <a:t>1</a:t>
            </a:r>
          </a:p>
        </p:txBody>
      </p:sp>
      <p:sp>
        <p:nvSpPr>
          <p:cNvPr id="6" name="TextBox 5"/>
          <p:cNvSpPr txBox="1"/>
          <p:nvPr/>
        </p:nvSpPr>
        <p:spPr>
          <a:xfrm>
            <a:off x="1463040" y="1965960"/>
            <a:ext cx="9875520" cy="457200"/>
          </a:xfrm>
          <a:prstGeom prst="rect">
            <a:avLst/>
          </a:prstGeom>
          <a:noFill/>
        </p:spPr>
        <p:txBody>
          <a:bodyPr wrap="square" anchor="t">
            <a:spAutoFit/>
          </a:bodyPr>
          <a:lstStyle/>
          <a:p>
            <a:pPr algn="l">
              <a:lnSpc>
                <a:spcPct val="115000"/>
              </a:lnSpc>
            </a:pPr>
            <a:r>
              <a:rPr sz="2200" b="1" i="0">
                <a:solidFill>
                  <a:srgbClr val="E8ECF2"/>
                </a:solidFill>
                <a:latin typeface="Segoe UI"/>
              </a:rPr>
              <a:t>A twin, not an animation</a:t>
            </a:r>
          </a:p>
        </p:txBody>
      </p:sp>
      <p:sp>
        <p:nvSpPr>
          <p:cNvPr id="7" name="TextBox 6"/>
          <p:cNvSpPr txBox="1"/>
          <p:nvPr/>
        </p:nvSpPr>
        <p:spPr>
          <a:xfrm>
            <a:off x="1463040" y="2441448"/>
            <a:ext cx="9875520" cy="1097280"/>
          </a:xfrm>
          <a:prstGeom prst="rect">
            <a:avLst/>
          </a:prstGeom>
          <a:noFill/>
        </p:spPr>
        <p:txBody>
          <a:bodyPr wrap="square" anchor="t">
            <a:spAutoFit/>
          </a:bodyPr>
          <a:lstStyle/>
          <a:p>
            <a:pPr algn="l">
              <a:lnSpc>
                <a:spcPct val="125000"/>
              </a:lnSpc>
            </a:pPr>
            <a:r>
              <a:rPr sz="1450" b="0" i="0">
                <a:solidFill>
                  <a:srgbClr val="8A94A6"/>
                </a:solidFill>
                <a:latin typeface="Segoe UI"/>
              </a:rPr>
              <a:t>Real traffic engineering constants. 40 km/h free flow, 2-second headway,</a:t>
            </a:r>
          </a:p>
          <a:p>
            <a:pPr algn="l">
              <a:lnSpc>
                <a:spcPct val="125000"/>
              </a:lnSpc>
            </a:pPr>
            <a:r>
              <a:rPr sz="1450" b="0" i="0">
                <a:solidFill>
                  <a:srgbClr val="8A94A6"/>
                </a:solidFill>
                <a:latin typeface="Segoe UI"/>
              </a:rPr>
              <a:t>2-second start-up lost time, 1800 PCU/h/lane. Control delay measured the</a:t>
            </a:r>
          </a:p>
          <a:p>
            <a:pPr algn="l">
              <a:lnSpc>
                <a:spcPct val="125000"/>
              </a:lnSpc>
            </a:pPr>
            <a:r>
              <a:rPr sz="1450" b="0" i="0">
                <a:solidFill>
                  <a:srgbClr val="8A94A6"/>
                </a:solidFill>
                <a:latin typeface="Segoe UI"/>
              </a:rPr>
              <a:t>way the Highway Capacity Manual measures it.</a:t>
            </a:r>
          </a:p>
        </p:txBody>
      </p:sp>
      <p:sp>
        <p:nvSpPr>
          <p:cNvPr id="8" name="TextBox 7"/>
          <p:cNvSpPr txBox="1"/>
          <p:nvPr/>
        </p:nvSpPr>
        <p:spPr>
          <a:xfrm>
            <a:off x="777240" y="3447288"/>
            <a:ext cx="548640" cy="548640"/>
          </a:xfrm>
          <a:prstGeom prst="rect">
            <a:avLst/>
          </a:prstGeom>
          <a:noFill/>
        </p:spPr>
        <p:txBody>
          <a:bodyPr wrap="square" anchor="t">
            <a:spAutoFit/>
          </a:bodyPr>
          <a:lstStyle/>
          <a:p>
            <a:pPr algn="l">
              <a:lnSpc>
                <a:spcPct val="115000"/>
              </a:lnSpc>
            </a:pPr>
            <a:r>
              <a:rPr sz="2800" b="1" i="0">
                <a:solidFill>
                  <a:srgbClr val="F5A524"/>
                </a:solidFill>
                <a:latin typeface="Consolas"/>
              </a:rPr>
              <a:t>2</a:t>
            </a:r>
          </a:p>
        </p:txBody>
      </p:sp>
      <p:sp>
        <p:nvSpPr>
          <p:cNvPr id="9" name="TextBox 8"/>
          <p:cNvSpPr txBox="1"/>
          <p:nvPr/>
        </p:nvSpPr>
        <p:spPr>
          <a:xfrm>
            <a:off x="1463040" y="3447288"/>
            <a:ext cx="9875520" cy="457200"/>
          </a:xfrm>
          <a:prstGeom prst="rect">
            <a:avLst/>
          </a:prstGeom>
          <a:noFill/>
        </p:spPr>
        <p:txBody>
          <a:bodyPr wrap="square" anchor="t">
            <a:spAutoFit/>
          </a:bodyPr>
          <a:lstStyle/>
          <a:p>
            <a:pPr algn="l">
              <a:lnSpc>
                <a:spcPct val="115000"/>
              </a:lnSpc>
            </a:pPr>
            <a:r>
              <a:rPr sz="2200" b="1" i="0">
                <a:solidFill>
                  <a:srgbClr val="E8ECF2"/>
                </a:solidFill>
                <a:latin typeface="Segoe UI"/>
              </a:rPr>
              <a:t>You can change it and see what happens</a:t>
            </a:r>
          </a:p>
        </p:txBody>
      </p:sp>
      <p:sp>
        <p:nvSpPr>
          <p:cNvPr id="10" name="TextBox 9"/>
          <p:cNvSpPr txBox="1"/>
          <p:nvPr/>
        </p:nvSpPr>
        <p:spPr>
          <a:xfrm>
            <a:off x="1463040" y="3922776"/>
            <a:ext cx="9875520" cy="1097280"/>
          </a:xfrm>
          <a:prstGeom prst="rect">
            <a:avLst/>
          </a:prstGeom>
          <a:noFill/>
        </p:spPr>
        <p:txBody>
          <a:bodyPr wrap="square" anchor="t">
            <a:spAutoFit/>
          </a:bodyPr>
          <a:lstStyle/>
          <a:p>
            <a:pPr algn="l">
              <a:lnSpc>
                <a:spcPct val="125000"/>
              </a:lnSpc>
            </a:pPr>
            <a:r>
              <a:rPr sz="1450" b="0" i="0">
                <a:solidFill>
                  <a:srgbClr val="8A94A6"/>
                </a:solidFill>
                <a:latin typeface="Segoe UI"/>
              </a:rPr>
              <a:t>Move a green time, press test. It replays the SAME traffic - same seed,</a:t>
            </a:r>
          </a:p>
          <a:p>
            <a:pPr algn="l">
              <a:lnSpc>
                <a:spcPct val="125000"/>
              </a:lnSpc>
            </a:pPr>
            <a:r>
              <a:rPr sz="1450" b="0" i="0">
                <a:solidFill>
                  <a:srgbClr val="8A94A6"/>
                </a:solidFill>
                <a:latin typeface="Segoe UI"/>
              </a:rPr>
              <a:t>same vehicles, same arrival times. The difference is the plan, not luck.</a:t>
            </a:r>
          </a:p>
        </p:txBody>
      </p:sp>
      <p:sp>
        <p:nvSpPr>
          <p:cNvPr id="11" name="TextBox 10"/>
          <p:cNvSpPr txBox="1"/>
          <p:nvPr/>
        </p:nvSpPr>
        <p:spPr>
          <a:xfrm>
            <a:off x="777240" y="4928616"/>
            <a:ext cx="548640" cy="548640"/>
          </a:xfrm>
          <a:prstGeom prst="rect">
            <a:avLst/>
          </a:prstGeom>
          <a:noFill/>
        </p:spPr>
        <p:txBody>
          <a:bodyPr wrap="square" anchor="t">
            <a:spAutoFit/>
          </a:bodyPr>
          <a:lstStyle/>
          <a:p>
            <a:pPr algn="l">
              <a:lnSpc>
                <a:spcPct val="115000"/>
              </a:lnSpc>
            </a:pPr>
            <a:r>
              <a:rPr sz="2800" b="1" i="0">
                <a:solidFill>
                  <a:srgbClr val="F5A524"/>
                </a:solidFill>
                <a:latin typeface="Consolas"/>
              </a:rPr>
              <a:t>3</a:t>
            </a:r>
          </a:p>
        </p:txBody>
      </p:sp>
      <p:sp>
        <p:nvSpPr>
          <p:cNvPr id="12" name="TextBox 11"/>
          <p:cNvSpPr txBox="1"/>
          <p:nvPr/>
        </p:nvSpPr>
        <p:spPr>
          <a:xfrm>
            <a:off x="1463040" y="4928616"/>
            <a:ext cx="9875520" cy="457200"/>
          </a:xfrm>
          <a:prstGeom prst="rect">
            <a:avLst/>
          </a:prstGeom>
          <a:noFill/>
        </p:spPr>
        <p:txBody>
          <a:bodyPr wrap="square" anchor="t">
            <a:spAutoFit/>
          </a:bodyPr>
          <a:lstStyle/>
          <a:p>
            <a:pPr algn="l">
              <a:lnSpc>
                <a:spcPct val="115000"/>
              </a:lnSpc>
            </a:pPr>
            <a:r>
              <a:rPr sz="2200" b="1" i="0">
                <a:solidFill>
                  <a:srgbClr val="E8ECF2"/>
                </a:solidFill>
                <a:latin typeface="Segoe UI"/>
              </a:rPr>
              <a:t>It prices priority</a:t>
            </a:r>
          </a:p>
        </p:txBody>
      </p:sp>
      <p:sp>
        <p:nvSpPr>
          <p:cNvPr id="13" name="TextBox 12"/>
          <p:cNvSpPr txBox="1"/>
          <p:nvPr/>
        </p:nvSpPr>
        <p:spPr>
          <a:xfrm>
            <a:off x="1463040" y="5404104"/>
            <a:ext cx="9875520" cy="1097280"/>
          </a:xfrm>
          <a:prstGeom prst="rect">
            <a:avLst/>
          </a:prstGeom>
          <a:noFill/>
        </p:spPr>
        <p:txBody>
          <a:bodyPr wrap="square" anchor="t">
            <a:spAutoFit/>
          </a:bodyPr>
          <a:lstStyle/>
          <a:p>
            <a:pPr algn="l">
              <a:lnSpc>
                <a:spcPct val="125000"/>
              </a:lnSpc>
            </a:pPr>
            <a:r>
              <a:rPr sz="1450" b="0" i="0">
                <a:solidFill>
                  <a:srgbClr val="8A94A6"/>
                </a:solidFill>
                <a:latin typeface="Segoe UI"/>
              </a:rPr>
              <a:t>Every green corridor shows what it saved AND what everyone else paid,</a:t>
            </a:r>
          </a:p>
          <a:p>
            <a:pPr algn="l">
              <a:lnSpc>
                <a:spcPct val="125000"/>
              </a:lnSpc>
            </a:pPr>
            <a:r>
              <a:rPr sz="1450" b="0" i="0">
                <a:solidFill>
                  <a:srgbClr val="8A94A6"/>
                </a:solidFill>
                <a:latin typeface="Segoe UI"/>
              </a:rPr>
              <a:t>in vehicle-seconds. No deployed system I could find publishes that.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HOW IT IS BUILT</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400" b="1" i="0">
                <a:solidFill>
                  <a:srgbClr val="E8ECF2"/>
                </a:solidFill>
                <a:latin typeface="Segoe UI"/>
              </a:rPr>
              <a:t>Five controllers. One writer. One safety floor.</a:t>
            </a:r>
          </a:p>
        </p:txBody>
      </p:sp>
      <p:pic>
        <p:nvPicPr>
          <p:cNvPr id="5" name="Picture 4" descr="architecture.png"/>
          <p:cNvPicPr>
            <a:picLocks noChangeAspect="1"/>
          </p:cNvPicPr>
          <p:nvPr/>
        </p:nvPicPr>
        <p:blipFill>
          <a:blip r:embed="rId2"/>
          <a:stretch>
            <a:fillRect/>
          </a:stretch>
        </p:blipFill>
        <p:spPr>
          <a:xfrm>
            <a:off x="655167" y="1783080"/>
            <a:ext cx="10881360" cy="5571256"/>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THE DELIVERABLE</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400" b="1" i="0">
                <a:solidFill>
                  <a:srgbClr val="E8ECF2"/>
                </a:solidFill>
                <a:latin typeface="Segoe UI"/>
              </a:rPr>
              <a:t>Same traffic, twice. So the difference is the plan.</a:t>
            </a:r>
          </a:p>
        </p:txBody>
      </p:sp>
      <p:pic>
        <p:nvPicPr>
          <p:cNvPr id="5" name="Picture 4" descr="street.png"/>
          <p:cNvPicPr>
            <a:picLocks noChangeAspect="1"/>
          </p:cNvPicPr>
          <p:nvPr/>
        </p:nvPicPr>
        <p:blipFill>
          <a:blip r:embed="rId2"/>
          <a:stretch>
            <a:fillRect/>
          </a:stretch>
        </p:blipFill>
        <p:spPr>
          <a:xfrm>
            <a:off x="777240" y="1920240"/>
            <a:ext cx="6766560" cy="4017645"/>
          </a:xfrm>
          <a:prstGeom prst="rect">
            <a:avLst/>
          </a:prstGeom>
        </p:spPr>
      </p:pic>
      <p:sp>
        <p:nvSpPr>
          <p:cNvPr id="6" name="TextBox 5"/>
          <p:cNvSpPr txBox="1"/>
          <p:nvPr/>
        </p:nvSpPr>
        <p:spPr>
          <a:xfrm>
            <a:off x="7863840" y="2011680"/>
            <a:ext cx="3657600" cy="3657600"/>
          </a:xfrm>
          <a:prstGeom prst="rect">
            <a:avLst/>
          </a:prstGeom>
          <a:noFill/>
        </p:spPr>
        <p:txBody>
          <a:bodyPr wrap="square" anchor="t">
            <a:spAutoFit/>
          </a:bodyPr>
          <a:lstStyle/>
          <a:p>
            <a:pPr algn="l">
              <a:lnSpc>
                <a:spcPct val="130000"/>
              </a:lnSpc>
            </a:pPr>
            <a:r>
              <a:rPr sz="1450" b="0" i="0">
                <a:solidFill>
                  <a:srgbClr val="8A94A6"/>
                </a:solidFill>
                <a:latin typeface="Segoe UI"/>
              </a:rPr>
              <a:t>Every test replays a seeded</a:t>
            </a:r>
          </a:p>
          <a:p>
            <a:pPr algn="l">
              <a:lnSpc>
                <a:spcPct val="130000"/>
              </a:lnSpc>
            </a:pPr>
            <a:r>
              <a:rPr sz="1450" b="0" i="0">
                <a:solidFill>
                  <a:srgbClr val="8A94A6"/>
                </a:solidFill>
                <a:latin typeface="Segoe UI"/>
              </a:rPr>
              <a:t>run of identical traffic.</a:t>
            </a:r>
          </a:p>
          <a:p>
            <a:pPr algn="l">
              <a:lnSpc>
                <a:spcPct val="130000"/>
              </a:lnSpc>
            </a:pPr>
            <a:r>
              <a:rPr sz="1450" b="0" i="0">
                <a:solidFill>
                  <a:srgbClr val="8A94A6"/>
                </a:solidFill>
                <a:latin typeface="Segoe UI"/>
              </a:rPr>
              <a:t/>
            </a:r>
          </a:p>
          <a:p>
            <a:pPr algn="l">
              <a:lnSpc>
                <a:spcPct val="130000"/>
              </a:lnSpc>
            </a:pPr>
            <a:r>
              <a:rPr sz="1450" b="0" i="0">
                <a:solidFill>
                  <a:srgbClr val="8A94A6"/>
                </a:solidFill>
                <a:latin typeface="Segoe UI"/>
              </a:rPr>
              <a:t>Change a green time, test it,</a:t>
            </a:r>
          </a:p>
          <a:p>
            <a:pPr algn="l">
              <a:lnSpc>
                <a:spcPct val="130000"/>
              </a:lnSpc>
            </a:pPr>
            <a:r>
              <a:rPr sz="1450" b="0" i="0">
                <a:solidFill>
                  <a:srgbClr val="8A94A6"/>
                </a:solidFill>
                <a:latin typeface="Segoe UI"/>
              </a:rPr>
              <a:t>and compare against Webster's</a:t>
            </a:r>
          </a:p>
          <a:p>
            <a:pPr algn="l">
              <a:lnSpc>
                <a:spcPct val="130000"/>
              </a:lnSpc>
            </a:pPr>
            <a:r>
              <a:rPr sz="1450" b="0" i="0">
                <a:solidFill>
                  <a:srgbClr val="8A94A6"/>
                </a:solidFill>
                <a:latin typeface="Segoe UI"/>
              </a:rPr>
              <a:t>1958 minimum-delay cycle -</a:t>
            </a:r>
          </a:p>
          <a:p>
            <a:pPr algn="l">
              <a:lnSpc>
                <a:spcPct val="130000"/>
              </a:lnSpc>
            </a:pPr>
            <a:r>
              <a:rPr sz="1450" b="0" i="0">
                <a:solidFill>
                  <a:srgbClr val="8A94A6"/>
                </a:solidFill>
                <a:latin typeface="Segoe UI"/>
              </a:rPr>
              <a:t>which is what most Indian</a:t>
            </a:r>
          </a:p>
          <a:p>
            <a:pPr algn="l">
              <a:lnSpc>
                <a:spcPct val="130000"/>
              </a:lnSpc>
            </a:pPr>
            <a:r>
              <a:rPr sz="1450" b="0" i="0">
                <a:solidFill>
                  <a:srgbClr val="8A94A6"/>
                </a:solidFill>
                <a:latin typeface="Segoe UI"/>
              </a:rPr>
              <a:t>junctions actually run.</a:t>
            </a:r>
          </a:p>
          <a:p>
            <a:pPr algn="l">
              <a:lnSpc>
                <a:spcPct val="130000"/>
              </a:lnSpc>
            </a:pPr>
            <a:r>
              <a:rPr sz="1450" b="0" i="0">
                <a:solidFill>
                  <a:srgbClr val="8A94A6"/>
                </a:solidFill>
                <a:latin typeface="Segoe UI"/>
              </a:rPr>
              <a:t/>
            </a:r>
          </a:p>
          <a:p>
            <a:pPr algn="l">
              <a:lnSpc>
                <a:spcPct val="130000"/>
              </a:lnSpc>
            </a:pPr>
            <a:r>
              <a:rPr sz="1450" b="0" i="0">
                <a:solidFill>
                  <a:srgbClr val="8A94A6"/>
                </a:solidFill>
                <a:latin typeface="Segoe UI"/>
              </a:rPr>
              <a:t>The tool is not claiming to have</a:t>
            </a:r>
          </a:p>
          <a:p>
            <a:pPr algn="l">
              <a:lnSpc>
                <a:spcPct val="130000"/>
              </a:lnSpc>
            </a:pPr>
            <a:r>
              <a:rPr sz="1450" b="0" i="0">
                <a:solidFill>
                  <a:srgbClr val="8A94A6"/>
                </a:solidFill>
                <a:latin typeface="Segoe UI"/>
              </a:rPr>
              <a:t>invented signal timing. It gives</a:t>
            </a:r>
          </a:p>
          <a:p>
            <a:pPr algn="l">
              <a:lnSpc>
                <a:spcPct val="130000"/>
              </a:lnSpc>
            </a:pPr>
            <a:r>
              <a:rPr sz="1450" b="0" i="0">
                <a:solidFill>
                  <a:srgbClr val="8A94A6"/>
                </a:solidFill>
                <a:latin typeface="Segoe UI"/>
              </a:rPr>
              <a:t>you a way to check whether</a:t>
            </a:r>
          </a:p>
          <a:p>
            <a:pPr algn="l">
              <a:lnSpc>
                <a:spcPct val="130000"/>
              </a:lnSpc>
            </a:pPr>
            <a:r>
              <a:rPr sz="1450" b="0" i="0">
                <a:solidFill>
                  <a:srgbClr val="8A94A6"/>
                </a:solidFill>
                <a:latin typeface="Segoe UI"/>
              </a:rPr>
              <a:t>your change beats the textbook.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THE IDEA NOBODY ELSE PUBLISHES</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800" b="1" i="0">
                <a:solidFill>
                  <a:srgbClr val="E8ECF2"/>
                </a:solidFill>
                <a:latin typeface="Segoe UI"/>
              </a:rPr>
              <a:t>Priority has a price. Show it.</a:t>
            </a:r>
          </a:p>
        </p:txBody>
      </p:sp>
      <p:sp>
        <p:nvSpPr>
          <p:cNvPr id="5" name="TextBox 4"/>
          <p:cNvSpPr txBox="1"/>
          <p:nvPr/>
        </p:nvSpPr>
        <p:spPr>
          <a:xfrm>
            <a:off x="777240" y="2011680"/>
            <a:ext cx="10607040" cy="1097280"/>
          </a:xfrm>
          <a:prstGeom prst="rect">
            <a:avLst/>
          </a:prstGeom>
          <a:noFill/>
        </p:spPr>
        <p:txBody>
          <a:bodyPr wrap="square" anchor="t">
            <a:spAutoFit/>
          </a:bodyPr>
          <a:lstStyle/>
          <a:p>
            <a:pPr algn="l">
              <a:lnSpc>
                <a:spcPct val="130000"/>
              </a:lnSpc>
            </a:pPr>
            <a:r>
              <a:rPr sz="1900" b="0" i="0">
                <a:solidFill>
                  <a:srgbClr val="8A94A6"/>
                </a:solidFill>
                <a:latin typeface="Segoe UI"/>
              </a:rPr>
              <a:t>Two ambulances, same junction, opposite roads. Both genuine.</a:t>
            </a:r>
          </a:p>
          <a:p>
            <a:pPr algn="l">
              <a:lnSpc>
                <a:spcPct val="130000"/>
              </a:lnSpc>
            </a:pPr>
            <a:r>
              <a:rPr sz="1900" b="0" i="0">
                <a:solidFill>
                  <a:srgbClr val="8A94A6"/>
                </a:solidFill>
                <a:latin typeface="Segoe UI"/>
              </a:rPr>
              <a:t>Something has to give - and the system prints its own arithmetic for why.</a:t>
            </a:r>
          </a:p>
        </p:txBody>
      </p:sp>
      <p:sp>
        <p:nvSpPr>
          <p:cNvPr id="6" name="Rounded Rectangle 5"/>
          <p:cNvSpPr/>
          <p:nvPr/>
        </p:nvSpPr>
        <p:spPr>
          <a:xfrm>
            <a:off x="777240" y="3383280"/>
            <a:ext cx="5120640" cy="1828800"/>
          </a:xfrm>
          <a:prstGeom prst="roundRect">
            <a:avLst/>
          </a:prstGeom>
          <a:solidFill>
            <a:srgbClr val="171C24"/>
          </a:solidFill>
          <a:ln w="15875">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3639312"/>
            <a:ext cx="4663440" cy="822960"/>
          </a:xfrm>
          <a:prstGeom prst="rect">
            <a:avLst/>
          </a:prstGeom>
          <a:noFill/>
        </p:spPr>
        <p:txBody>
          <a:bodyPr wrap="square" anchor="t">
            <a:spAutoFit/>
          </a:bodyPr>
          <a:lstStyle/>
          <a:p>
            <a:pPr algn="l">
              <a:lnSpc>
                <a:spcPct val="115000"/>
              </a:lnSpc>
            </a:pPr>
            <a:r>
              <a:rPr sz="3400" b="1" i="0">
                <a:solidFill>
                  <a:srgbClr val="2ECC71"/>
                </a:solidFill>
                <a:latin typeface="Segoe UI"/>
              </a:rPr>
              <a:t>SECONDS SAVED</a:t>
            </a:r>
          </a:p>
        </p:txBody>
      </p:sp>
      <p:sp>
        <p:nvSpPr>
          <p:cNvPr id="8" name="TextBox 7"/>
          <p:cNvSpPr txBox="1"/>
          <p:nvPr/>
        </p:nvSpPr>
        <p:spPr>
          <a:xfrm>
            <a:off x="1005840" y="4407408"/>
            <a:ext cx="4663440" cy="731520"/>
          </a:xfrm>
          <a:prstGeom prst="rect">
            <a:avLst/>
          </a:prstGeom>
          <a:noFill/>
        </p:spPr>
        <p:txBody>
          <a:bodyPr wrap="square" anchor="t">
            <a:spAutoFit/>
          </a:bodyPr>
          <a:lstStyle/>
          <a:p>
            <a:pPr algn="l">
              <a:lnSpc>
                <a:spcPct val="115000"/>
              </a:lnSpc>
            </a:pPr>
            <a:r>
              <a:rPr sz="1300" b="0" i="0">
                <a:solidFill>
                  <a:srgbClr val="8A94A6"/>
                </a:solidFill>
                <a:latin typeface="Segoe UI"/>
              </a:rPr>
              <a:t>by the vehicle granted priority</a:t>
            </a:r>
          </a:p>
          <a:p>
            <a:pPr algn="l">
              <a:lnSpc>
                <a:spcPct val="115000"/>
              </a:lnSpc>
            </a:pPr>
            <a:r>
              <a:rPr sz="1300" b="0" i="0">
                <a:solidFill>
                  <a:srgbClr val="8A94A6"/>
                </a:solidFill>
                <a:latin typeface="Segoe UI"/>
              </a:rPr>
              <a:t>measured live, on screen, per grant</a:t>
            </a:r>
          </a:p>
        </p:txBody>
      </p:sp>
      <p:sp>
        <p:nvSpPr>
          <p:cNvPr id="9" name="Rounded Rectangle 8"/>
          <p:cNvSpPr/>
          <p:nvPr/>
        </p:nvSpPr>
        <p:spPr>
          <a:xfrm>
            <a:off x="6263640" y="3383280"/>
            <a:ext cx="5120640" cy="1828800"/>
          </a:xfrm>
          <a:prstGeom prst="roundRect">
            <a:avLst/>
          </a:prstGeom>
          <a:solidFill>
            <a:srgbClr val="171C24"/>
          </a:solidFill>
          <a:ln w="15875">
            <a:solidFill>
              <a:srgbClr val="E5484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3639312"/>
            <a:ext cx="4663440" cy="822960"/>
          </a:xfrm>
          <a:prstGeom prst="rect">
            <a:avLst/>
          </a:prstGeom>
          <a:noFill/>
        </p:spPr>
        <p:txBody>
          <a:bodyPr wrap="square" anchor="t">
            <a:spAutoFit/>
          </a:bodyPr>
          <a:lstStyle/>
          <a:p>
            <a:pPr algn="l">
              <a:lnSpc>
                <a:spcPct val="115000"/>
              </a:lnSpc>
            </a:pPr>
            <a:r>
              <a:rPr sz="3400" b="1" i="0">
                <a:solidFill>
                  <a:srgbClr val="E5484D"/>
                </a:solidFill>
                <a:latin typeface="Segoe UI"/>
              </a:rPr>
              <a:t>VEH-SECONDS PAID</a:t>
            </a:r>
          </a:p>
        </p:txBody>
      </p:sp>
      <p:sp>
        <p:nvSpPr>
          <p:cNvPr id="11" name="TextBox 10"/>
          <p:cNvSpPr txBox="1"/>
          <p:nvPr/>
        </p:nvSpPr>
        <p:spPr>
          <a:xfrm>
            <a:off x="6492240" y="4407408"/>
            <a:ext cx="4663440" cy="731520"/>
          </a:xfrm>
          <a:prstGeom prst="rect">
            <a:avLst/>
          </a:prstGeom>
          <a:noFill/>
        </p:spPr>
        <p:txBody>
          <a:bodyPr wrap="square" anchor="t">
            <a:spAutoFit/>
          </a:bodyPr>
          <a:lstStyle/>
          <a:p>
            <a:pPr algn="l">
              <a:lnSpc>
                <a:spcPct val="115000"/>
              </a:lnSpc>
            </a:pPr>
            <a:r>
              <a:rPr sz="1300" b="0" i="0">
                <a:solidFill>
                  <a:srgbClr val="8A94A6"/>
                </a:solidFill>
                <a:latin typeface="Segoe UI"/>
              </a:rPr>
              <a:t>by everybody else on the network</a:t>
            </a:r>
          </a:p>
          <a:p>
            <a:pPr algn="l">
              <a:lnSpc>
                <a:spcPct val="115000"/>
              </a:lnSpc>
            </a:pPr>
            <a:r>
              <a:rPr sz="1300" b="0" i="0">
                <a:solidFill>
                  <a:srgbClr val="8A94A6"/>
                </a:solidFill>
                <a:latin typeface="Segoe UI"/>
              </a:rPr>
              <a:t>measured live, on screen, per grant</a:t>
            </a:r>
          </a:p>
        </p:txBody>
      </p:sp>
      <p:sp>
        <p:nvSpPr>
          <p:cNvPr id="12" name="TextBox 11"/>
          <p:cNvSpPr txBox="1"/>
          <p:nvPr/>
        </p:nvSpPr>
        <p:spPr>
          <a:xfrm>
            <a:off x="777240" y="5577840"/>
            <a:ext cx="10607040" cy="731520"/>
          </a:xfrm>
          <a:prstGeom prst="rect">
            <a:avLst/>
          </a:prstGeom>
          <a:noFill/>
        </p:spPr>
        <p:txBody>
          <a:bodyPr wrap="square" anchor="t">
            <a:spAutoFit/>
          </a:bodyPr>
          <a:lstStyle/>
          <a:p>
            <a:pPr algn="l">
              <a:lnSpc>
                <a:spcPct val="115000"/>
              </a:lnSpc>
            </a:pPr>
            <a:r>
              <a:rPr sz="1700" b="1" i="0">
                <a:solidFill>
                  <a:srgbClr val="F5A524"/>
                </a:solidFill>
                <a:latin typeface="Segoe UI"/>
              </a:rPr>
              <a:t>That second number is the reason a traffic department would ever agree to any of this.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THE QUESTION I WAS ASKED IN ROUND 1</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400" b="1" i="0">
                <a:solidFill>
                  <a:srgbClr val="E8ECF2"/>
                </a:solidFill>
                <a:latin typeface="Segoe UI"/>
              </a:rPr>
              <a:t>"What if a terrorist misuses the button?"</a:t>
            </a:r>
          </a:p>
        </p:txBody>
      </p:sp>
      <p:pic>
        <p:nvPicPr>
          <p:cNvPr id="5" name="Picture 4" descr="misuse.png"/>
          <p:cNvPicPr>
            <a:picLocks noChangeAspect="1"/>
          </p:cNvPicPr>
          <p:nvPr/>
        </p:nvPicPr>
        <p:blipFill>
          <a:blip r:embed="rId2"/>
          <a:stretch>
            <a:fillRect/>
          </a:stretch>
        </p:blipFill>
        <p:spPr>
          <a:xfrm>
            <a:off x="792327" y="1920240"/>
            <a:ext cx="10607040" cy="404996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UNDER THE BONNET</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400" b="1" i="0">
                <a:solidFill>
                  <a:srgbClr val="E8ECF2"/>
                </a:solidFill>
                <a:latin typeface="Segoe UI"/>
              </a:rPr>
              <a:t>Four things, and what each one is honestly worth</a:t>
            </a:r>
          </a:p>
        </p:txBody>
      </p:sp>
      <p:sp>
        <p:nvSpPr>
          <p:cNvPr id="5" name="Rectangle 4"/>
          <p:cNvSpPr/>
          <p:nvPr/>
        </p:nvSpPr>
        <p:spPr>
          <a:xfrm>
            <a:off x="777240" y="1965960"/>
            <a:ext cx="1463040" cy="32004"/>
          </a:xfrm>
          <a:prstGeom prst="rect">
            <a:avLst/>
          </a:prstGeom>
          <a:solidFill>
            <a:srgbClr val="2EC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130552"/>
            <a:ext cx="5120640" cy="365760"/>
          </a:xfrm>
          <a:prstGeom prst="rect">
            <a:avLst/>
          </a:prstGeom>
          <a:noFill/>
        </p:spPr>
        <p:txBody>
          <a:bodyPr wrap="square" anchor="t">
            <a:spAutoFit/>
          </a:bodyPr>
          <a:lstStyle/>
          <a:p>
            <a:pPr algn="l">
              <a:lnSpc>
                <a:spcPct val="115000"/>
              </a:lnSpc>
            </a:pPr>
            <a:r>
              <a:rPr sz="1250" b="1" i="0">
                <a:solidFill>
                  <a:srgbClr val="2ECC71"/>
                </a:solidFill>
                <a:latin typeface="Consolas"/>
              </a:rPr>
              <a:t>REINFORCEMENT LEARNING</a:t>
            </a:r>
          </a:p>
        </p:txBody>
      </p:sp>
      <p:sp>
        <p:nvSpPr>
          <p:cNvPr id="7" name="TextBox 6"/>
          <p:cNvSpPr txBox="1"/>
          <p:nvPr/>
        </p:nvSpPr>
        <p:spPr>
          <a:xfrm>
            <a:off x="777240" y="2587752"/>
            <a:ext cx="5120640" cy="1645920"/>
          </a:xfrm>
          <a:prstGeom prst="rect">
            <a:avLst/>
          </a:prstGeom>
          <a:noFill/>
        </p:spPr>
        <p:txBody>
          <a:bodyPr wrap="square" anchor="t">
            <a:spAutoFit/>
          </a:bodyPr>
          <a:lstStyle/>
          <a:p>
            <a:pPr algn="l">
              <a:lnSpc>
                <a:spcPct val="125000"/>
              </a:lnSpc>
            </a:pPr>
            <a:r>
              <a:rPr sz="1300" b="0" i="0">
                <a:solidFill>
                  <a:srgbClr val="8A94A6"/>
                </a:solidFill>
                <a:latin typeface="Segoe UI"/>
              </a:rPr>
              <a:t>Trained in Python against this exact</a:t>
            </a:r>
          </a:p>
          <a:p>
            <a:pPr algn="l">
              <a:lnSpc>
                <a:spcPct val="125000"/>
              </a:lnSpc>
            </a:pPr>
            <a:r>
              <a:rPr sz="1300" b="0" i="0">
                <a:solidFill>
                  <a:srgbClr val="8A94A6"/>
                </a:solidFill>
                <a:latin typeface="Segoe UI"/>
              </a:rPr>
              <a:t>simulator running headless in Node.</a:t>
            </a:r>
          </a:p>
          <a:p>
            <a:pPr algn="l">
              <a:lnSpc>
                <a:spcPct val="125000"/>
              </a:lnSpc>
            </a:pPr>
            <a:r>
              <a:rPr sz="1300" b="0" i="0">
                <a:solidFill>
                  <a:srgbClr val="8A94A6"/>
                </a:solidFill>
                <a:latin typeface="Segoe UI"/>
              </a:rPr>
              <a:t>Same physics, no second implementation.</a:t>
            </a:r>
          </a:p>
          <a:p>
            <a:pPr algn="l">
              <a:lnSpc>
                <a:spcPct val="125000"/>
              </a:lnSpc>
            </a:pPr>
            <a:r>
              <a:rPr sz="1300" b="0" i="0">
                <a:solidFill>
                  <a:srgbClr val="8A94A6"/>
                </a:solidFill>
                <a:latin typeface="Segoe UI"/>
              </a:rPr>
              <a:t/>
            </a:r>
          </a:p>
          <a:p>
            <a:pPr algn="l">
              <a:lnSpc>
                <a:spcPct val="125000"/>
              </a:lnSpc>
            </a:pPr>
            <a:r>
              <a:rPr sz="1300" b="0" i="0">
                <a:solidFill>
                  <a:srgbClr val="8A94A6"/>
                </a:solidFill>
                <a:latin typeface="Segoe UI"/>
              </a:rPr>
              <a:t>A standard DQN never beat the fixed</a:t>
            </a:r>
          </a:p>
          <a:p>
            <a:pPr algn="l">
              <a:lnSpc>
                <a:spcPct val="125000"/>
              </a:lnSpc>
            </a:pPr>
            <a:r>
              <a:rPr sz="1300" b="0" i="0">
                <a:solidFill>
                  <a:srgbClr val="8A94A6"/>
                </a:solidFill>
                <a:latin typeface="Segoe UI"/>
              </a:rPr>
              <a:t>plan. Monte-Carlo returns did.</a:t>
            </a:r>
          </a:p>
        </p:txBody>
      </p:sp>
      <p:sp>
        <p:nvSpPr>
          <p:cNvPr id="8" name="Rectangle 7"/>
          <p:cNvSpPr/>
          <p:nvPr/>
        </p:nvSpPr>
        <p:spPr>
          <a:xfrm>
            <a:off x="6263640" y="1965960"/>
            <a:ext cx="1463040" cy="32004"/>
          </a:xfrm>
          <a:prstGeom prst="rect">
            <a:avLst/>
          </a:prstGeom>
          <a:solidFill>
            <a:srgbClr val="4C9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63640" y="2130552"/>
            <a:ext cx="5120640" cy="365760"/>
          </a:xfrm>
          <a:prstGeom prst="rect">
            <a:avLst/>
          </a:prstGeom>
          <a:noFill/>
        </p:spPr>
        <p:txBody>
          <a:bodyPr wrap="square" anchor="t">
            <a:spAutoFit/>
          </a:bodyPr>
          <a:lstStyle/>
          <a:p>
            <a:pPr algn="l">
              <a:lnSpc>
                <a:spcPct val="115000"/>
              </a:lnSpc>
            </a:pPr>
            <a:r>
              <a:rPr sz="1250" b="1" i="0">
                <a:solidFill>
                  <a:srgbClr val="4C9AFF"/>
                </a:solidFill>
                <a:latin typeface="Consolas"/>
              </a:rPr>
              <a:t>STACKED LANGUAGE MODELS</a:t>
            </a:r>
          </a:p>
        </p:txBody>
      </p:sp>
      <p:sp>
        <p:nvSpPr>
          <p:cNvPr id="10" name="TextBox 9"/>
          <p:cNvSpPr txBox="1"/>
          <p:nvPr/>
        </p:nvSpPr>
        <p:spPr>
          <a:xfrm>
            <a:off x="6263640" y="2587752"/>
            <a:ext cx="5120640" cy="1645920"/>
          </a:xfrm>
          <a:prstGeom prst="rect">
            <a:avLst/>
          </a:prstGeom>
          <a:noFill/>
        </p:spPr>
        <p:txBody>
          <a:bodyPr wrap="square" anchor="t">
            <a:spAutoFit/>
          </a:bodyPr>
          <a:lstStyle/>
          <a:p>
            <a:pPr algn="l">
              <a:lnSpc>
                <a:spcPct val="125000"/>
              </a:lnSpc>
            </a:pPr>
            <a:r>
              <a:rPr sz="1300" b="0" i="0">
                <a:solidFill>
                  <a:srgbClr val="8A94A6"/>
                </a:solidFill>
                <a:latin typeface="Segoe UI"/>
              </a:rPr>
              <a:t>One model proposes an action and a</a:t>
            </a:r>
          </a:p>
          <a:p>
            <a:pPr algn="l">
              <a:lnSpc>
                <a:spcPct val="125000"/>
              </a:lnSpc>
            </a:pPr>
            <a:r>
              <a:rPr sz="1300" b="0" i="0">
                <a:solidFill>
                  <a:srgbClr val="8A94A6"/>
                </a:solidFill>
                <a:latin typeface="Segoe UI"/>
              </a:rPr>
              <a:t>reason. A second call reviews it and</a:t>
            </a:r>
          </a:p>
          <a:p>
            <a:pPr algn="l">
              <a:lnSpc>
                <a:spcPct val="125000"/>
              </a:lnSpc>
            </a:pPr>
            <a:r>
              <a:rPr sz="1300" b="0" i="0">
                <a:solidFill>
                  <a:srgbClr val="8A94A6"/>
                </a:solidFill>
                <a:latin typeface="Segoe UI"/>
              </a:rPr>
              <a:t>can overrule it.</a:t>
            </a:r>
          </a:p>
          <a:p>
            <a:pPr algn="l">
              <a:lnSpc>
                <a:spcPct val="125000"/>
              </a:lnSpc>
            </a:pPr>
            <a:r>
              <a:rPr sz="1300" b="0" i="0">
                <a:solidFill>
                  <a:srgbClr val="8A94A6"/>
                </a:solidFill>
                <a:latin typeface="Segoe UI"/>
              </a:rPr>
              <a:t/>
            </a:r>
          </a:p>
          <a:p>
            <a:pPr algn="l">
              <a:lnSpc>
                <a:spcPct val="125000"/>
              </a:lnSpc>
            </a:pPr>
            <a:r>
              <a:rPr sz="1300" b="0" i="0">
                <a:solidFill>
                  <a:srgbClr val="8A94A6"/>
                </a:solidFill>
                <a:latin typeface="Segoe UI"/>
              </a:rPr>
              <a:t>Underneath both, a local rule decides</a:t>
            </a:r>
          </a:p>
          <a:p>
            <a:pPr algn="l">
              <a:lnSpc>
                <a:spcPct val="125000"/>
              </a:lnSpc>
            </a:pPr>
            <a:r>
              <a:rPr sz="1300" b="0" i="0">
                <a:solidFill>
                  <a:srgbClr val="8A94A6"/>
                </a:solidFill>
                <a:latin typeface="Segoe UI"/>
              </a:rPr>
              <a:t>when the API is down - and says so.</a:t>
            </a:r>
          </a:p>
        </p:txBody>
      </p:sp>
      <p:sp>
        <p:nvSpPr>
          <p:cNvPr id="11" name="Rectangle 10"/>
          <p:cNvSpPr/>
          <p:nvPr/>
        </p:nvSpPr>
        <p:spPr>
          <a:xfrm>
            <a:off x="777240" y="4297679"/>
            <a:ext cx="1463040" cy="3200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462271"/>
            <a:ext cx="5120640" cy="365760"/>
          </a:xfrm>
          <a:prstGeom prst="rect">
            <a:avLst/>
          </a:prstGeom>
          <a:noFill/>
        </p:spPr>
        <p:txBody>
          <a:bodyPr wrap="square" anchor="t">
            <a:spAutoFit/>
          </a:bodyPr>
          <a:lstStyle/>
          <a:p>
            <a:pPr algn="l">
              <a:lnSpc>
                <a:spcPct val="115000"/>
              </a:lnSpc>
            </a:pPr>
            <a:r>
              <a:rPr sz="1250" b="1" i="0">
                <a:solidFill>
                  <a:srgbClr val="F5A524"/>
                </a:solidFill>
                <a:latin typeface="Consolas"/>
              </a:rPr>
              <a:t>QUANTUM-READY OPTIMISATION</a:t>
            </a:r>
          </a:p>
        </p:txBody>
      </p:sp>
      <p:sp>
        <p:nvSpPr>
          <p:cNvPr id="13" name="TextBox 12"/>
          <p:cNvSpPr txBox="1"/>
          <p:nvPr/>
        </p:nvSpPr>
        <p:spPr>
          <a:xfrm>
            <a:off x="777240" y="4919471"/>
            <a:ext cx="5120640" cy="1645920"/>
          </a:xfrm>
          <a:prstGeom prst="rect">
            <a:avLst/>
          </a:prstGeom>
          <a:noFill/>
        </p:spPr>
        <p:txBody>
          <a:bodyPr wrap="square" anchor="t">
            <a:spAutoFit/>
          </a:bodyPr>
          <a:lstStyle/>
          <a:p>
            <a:pPr algn="l">
              <a:lnSpc>
                <a:spcPct val="125000"/>
              </a:lnSpc>
            </a:pPr>
            <a:r>
              <a:rPr sz="1300" b="0" i="0">
                <a:solidFill>
                  <a:srgbClr val="8A94A6"/>
                </a:solidFill>
                <a:latin typeface="Segoe UI"/>
              </a:rPr>
              <a:t>The whole network as one QUBO - the</a:t>
            </a:r>
          </a:p>
          <a:p>
            <a:pPr algn="l">
              <a:lnSpc>
                <a:spcPct val="125000"/>
              </a:lnSpc>
            </a:pPr>
            <a:r>
              <a:rPr sz="1300" b="0" i="0">
                <a:solidFill>
                  <a:srgbClr val="8A94A6"/>
                </a:solidFill>
                <a:latin typeface="Segoe UI"/>
              </a:rPr>
              <a:t>form a quantum annealer takes.</a:t>
            </a:r>
          </a:p>
          <a:p>
            <a:pPr algn="l">
              <a:lnSpc>
                <a:spcPct val="125000"/>
              </a:lnSpc>
            </a:pPr>
            <a:r>
              <a:rPr sz="1300" b="0" i="0">
                <a:solidFill>
                  <a:srgbClr val="8A94A6"/>
                </a:solidFill>
                <a:latin typeface="Segoe UI"/>
              </a:rPr>
              <a:t/>
            </a:r>
          </a:p>
          <a:p>
            <a:pPr algn="l">
              <a:lnSpc>
                <a:spcPct val="125000"/>
              </a:lnSpc>
            </a:pPr>
            <a:r>
              <a:rPr sz="1300" b="0" i="0">
                <a:solidFill>
                  <a:srgbClr val="8A94A6"/>
                </a:solidFill>
                <a:latin typeface="Segoe UI"/>
              </a:rPr>
              <a:t>Solved here classically, and checked</a:t>
            </a:r>
          </a:p>
          <a:p>
            <a:pPr algn="l">
              <a:lnSpc>
                <a:spcPct val="125000"/>
              </a:lnSpc>
            </a:pPr>
            <a:r>
              <a:rPr sz="1300" b="0" i="0">
                <a:solidFill>
                  <a:srgbClr val="8A94A6"/>
                </a:solidFill>
                <a:latin typeface="Segoe UI"/>
              </a:rPr>
              <a:t>against brute force. Nothing about it</a:t>
            </a:r>
          </a:p>
          <a:p>
            <a:pPr algn="l">
              <a:lnSpc>
                <a:spcPct val="125000"/>
              </a:lnSpc>
            </a:pPr>
            <a:r>
              <a:rPr sz="1300" b="0" i="0">
                <a:solidFill>
                  <a:srgbClr val="8A94A6"/>
                </a:solidFill>
                <a:latin typeface="Segoe UI"/>
              </a:rPr>
              <a:t>is quantum, and I will not claim it is.</a:t>
            </a:r>
          </a:p>
        </p:txBody>
      </p:sp>
      <p:sp>
        <p:nvSpPr>
          <p:cNvPr id="14" name="Rectangle 13"/>
          <p:cNvSpPr/>
          <p:nvPr/>
        </p:nvSpPr>
        <p:spPr>
          <a:xfrm>
            <a:off x="6263640" y="4297679"/>
            <a:ext cx="1463040" cy="32004"/>
          </a:xfrm>
          <a:prstGeom prst="rect">
            <a:avLst/>
          </a:prstGeom>
          <a:solidFill>
            <a:srgbClr val="E548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63640" y="4462271"/>
            <a:ext cx="5120640" cy="365760"/>
          </a:xfrm>
          <a:prstGeom prst="rect">
            <a:avLst/>
          </a:prstGeom>
          <a:noFill/>
        </p:spPr>
        <p:txBody>
          <a:bodyPr wrap="square" anchor="t">
            <a:spAutoFit/>
          </a:bodyPr>
          <a:lstStyle/>
          <a:p>
            <a:pPr algn="l">
              <a:lnSpc>
                <a:spcPct val="115000"/>
              </a:lnSpc>
            </a:pPr>
            <a:r>
              <a:rPr sz="1250" b="1" i="0">
                <a:solidFill>
                  <a:srgbClr val="E5484D"/>
                </a:solidFill>
                <a:latin typeface="Consolas"/>
              </a:rPr>
              <a:t>SUMO VALIDATION</a:t>
            </a:r>
          </a:p>
        </p:txBody>
      </p:sp>
      <p:sp>
        <p:nvSpPr>
          <p:cNvPr id="16" name="TextBox 15"/>
          <p:cNvSpPr txBox="1"/>
          <p:nvPr/>
        </p:nvSpPr>
        <p:spPr>
          <a:xfrm>
            <a:off x="6263640" y="4919471"/>
            <a:ext cx="5120640" cy="1645920"/>
          </a:xfrm>
          <a:prstGeom prst="rect">
            <a:avLst/>
          </a:prstGeom>
          <a:noFill/>
        </p:spPr>
        <p:txBody>
          <a:bodyPr wrap="square" anchor="t">
            <a:spAutoFit/>
          </a:bodyPr>
          <a:lstStyle/>
          <a:p>
            <a:pPr algn="l">
              <a:lnSpc>
                <a:spcPct val="125000"/>
              </a:lnSpc>
            </a:pPr>
            <a:r>
              <a:rPr sz="1300" b="0" i="0">
                <a:solidFill>
                  <a:srgbClr val="8A94A6"/>
                </a:solidFill>
                <a:latin typeface="Segoe UI"/>
              </a:rPr>
              <a:t>Everything above is my simulator</a:t>
            </a:r>
          </a:p>
          <a:p>
            <a:pPr algn="l">
              <a:lnSpc>
                <a:spcPct val="125000"/>
              </a:lnSpc>
            </a:pPr>
            <a:r>
              <a:rPr sz="1300" b="0" i="0">
                <a:solidFill>
                  <a:srgbClr val="8A94A6"/>
                </a:solidFill>
                <a:latin typeface="Segoe UI"/>
              </a:rPr>
              <a:t>marking its own homework.</a:t>
            </a:r>
          </a:p>
          <a:p>
            <a:pPr algn="l">
              <a:lnSpc>
                <a:spcPct val="125000"/>
              </a:lnSpc>
            </a:pPr>
            <a:r>
              <a:rPr sz="1300" b="0" i="0">
                <a:solidFill>
                  <a:srgbClr val="8A94A6"/>
                </a:solidFill>
                <a:latin typeface="Segoe UI"/>
              </a:rPr>
              <a:t/>
            </a:r>
          </a:p>
          <a:p>
            <a:pPr algn="l">
              <a:lnSpc>
                <a:spcPct val="125000"/>
              </a:lnSpc>
            </a:pPr>
            <a:r>
              <a:rPr sz="1300" b="0" i="0">
                <a:solidFill>
                  <a:srgbClr val="8A94A6"/>
                </a:solidFill>
                <a:latin typeface="Segoe UI"/>
              </a:rPr>
              <a:t>So it was re-run in SUMO on a real</a:t>
            </a:r>
          </a:p>
          <a:p>
            <a:pPr algn="l">
              <a:lnSpc>
                <a:spcPct val="125000"/>
              </a:lnSpc>
            </a:pPr>
            <a:r>
              <a:rPr sz="1300" b="0" i="0">
                <a:solidFill>
                  <a:srgbClr val="8A94A6"/>
                </a:solidFill>
                <a:latin typeface="Segoe UI"/>
              </a:rPr>
              <a:t>1.71 km Vijayawada corridor imported</a:t>
            </a:r>
          </a:p>
          <a:p>
            <a:pPr algn="l">
              <a:lnSpc>
                <a:spcPct val="125000"/>
              </a:lnSpc>
            </a:pPr>
            <a:r>
              <a:rPr sz="1300" b="0" i="0">
                <a:solidFill>
                  <a:srgbClr val="8A94A6"/>
                </a:solidFill>
                <a:latin typeface="Segoe UI"/>
              </a:rPr>
              <a:t>from OpenStreetMap, 19 junctions.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STACKED MODELS, AND THE FLOOR UNDER THEM</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200" b="1" i="0">
                <a:solidFill>
                  <a:srgbClr val="E8ECF2"/>
                </a:solidFill>
                <a:latin typeface="Segoe UI"/>
              </a:rPr>
              <a:t>A model marking its own homework is worth little.</a:t>
            </a:r>
          </a:p>
        </p:txBody>
      </p:sp>
      <p:sp>
        <p:nvSpPr>
          <p:cNvPr id="5" name="TextBox 4"/>
          <p:cNvSpPr txBox="1"/>
          <p:nvPr/>
        </p:nvSpPr>
        <p:spPr>
          <a:xfrm>
            <a:off x="777240" y="1691640"/>
            <a:ext cx="10607040" cy="457200"/>
          </a:xfrm>
          <a:prstGeom prst="rect">
            <a:avLst/>
          </a:prstGeom>
          <a:noFill/>
        </p:spPr>
        <p:txBody>
          <a:bodyPr wrap="square" anchor="t">
            <a:spAutoFit/>
          </a:bodyPr>
          <a:lstStyle/>
          <a:p>
            <a:pPr algn="l">
              <a:lnSpc>
                <a:spcPct val="115000"/>
              </a:lnSpc>
            </a:pPr>
            <a:r>
              <a:rPr sz="2400" b="1" i="0">
                <a:solidFill>
                  <a:srgbClr val="F5A524"/>
                </a:solidFill>
                <a:latin typeface="Segoe UI"/>
              </a:rPr>
              <a:t>Marking someone else's is worth something.</a:t>
            </a:r>
          </a:p>
        </p:txBody>
      </p:sp>
      <p:pic>
        <p:nvPicPr>
          <p:cNvPr id="6" name="Picture 5" descr="llm_stack.png"/>
          <p:cNvPicPr>
            <a:picLocks noChangeAspect="1"/>
          </p:cNvPicPr>
          <p:nvPr/>
        </p:nvPicPr>
        <p:blipFill>
          <a:blip r:embed="rId2"/>
          <a:stretch>
            <a:fillRect/>
          </a:stretch>
        </p:blipFill>
        <p:spPr>
          <a:xfrm>
            <a:off x="883767" y="2468880"/>
            <a:ext cx="10424160" cy="416966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DOES IT ACTUALLY WORK</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400" b="1" i="0">
                <a:solidFill>
                  <a:srgbClr val="E8ECF2"/>
                </a:solidFill>
                <a:latin typeface="Segoe UI"/>
              </a:rPr>
              <a:t>Four junctions, same seeded traffic</a:t>
            </a:r>
          </a:p>
        </p:txBody>
      </p:sp>
      <p:pic>
        <p:nvPicPr>
          <p:cNvPr id="5" name="Picture 4" descr="delay.png"/>
          <p:cNvPicPr>
            <a:picLocks noChangeAspect="1"/>
          </p:cNvPicPr>
          <p:nvPr/>
        </p:nvPicPr>
        <p:blipFill>
          <a:blip r:embed="rId2"/>
          <a:stretch>
            <a:fillRect/>
          </a:stretch>
        </p:blipFill>
        <p:spPr>
          <a:xfrm>
            <a:off x="2026767" y="1828800"/>
            <a:ext cx="8138160" cy="3978656"/>
          </a:xfrm>
          <a:prstGeom prst="rect">
            <a:avLst/>
          </a:prstGeom>
        </p:spPr>
      </p:pic>
      <p:sp>
        <p:nvSpPr>
          <p:cNvPr id="6" name="TextBox 5"/>
          <p:cNvSpPr txBox="1"/>
          <p:nvPr/>
        </p:nvSpPr>
        <p:spPr>
          <a:xfrm>
            <a:off x="777240" y="6035040"/>
            <a:ext cx="10607040" cy="731520"/>
          </a:xfrm>
          <a:prstGeom prst="rect">
            <a:avLst/>
          </a:prstGeom>
          <a:noFill/>
        </p:spPr>
        <p:txBody>
          <a:bodyPr wrap="square" anchor="t">
            <a:spAutoFit/>
          </a:bodyPr>
          <a:lstStyle/>
          <a:p>
            <a:pPr algn="l">
              <a:lnSpc>
                <a:spcPct val="115000"/>
              </a:lnSpc>
            </a:pPr>
            <a:r>
              <a:rPr sz="1300" b="0" i="1">
                <a:solidFill>
                  <a:srgbClr val="8A94A6"/>
                </a:solidFill>
                <a:latin typeface="Segoe UI"/>
              </a:rPr>
              <a:t>Axis starts at 31s so the gap is visible. Max-Pressure is a genuinely good published controller - beating it by 2.6% is the honest claim, not 10x.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PROOF IT WAS TRAINED, NOT TUNED</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400" b="1" i="0">
                <a:solidFill>
                  <a:srgbClr val="E8ECF2"/>
                </a:solidFill>
                <a:latin typeface="Segoe UI"/>
              </a:rPr>
              <a:t>The loss falls. So does the held-out score.</a:t>
            </a:r>
          </a:p>
        </p:txBody>
      </p:sp>
      <p:pic>
        <p:nvPicPr>
          <p:cNvPr id="5" name="Picture 4" descr="training.png"/>
          <p:cNvPicPr>
            <a:picLocks noChangeAspect="1"/>
          </p:cNvPicPr>
          <p:nvPr/>
        </p:nvPicPr>
        <p:blipFill>
          <a:blip r:embed="rId2"/>
          <a:stretch>
            <a:fillRect/>
          </a:stretch>
        </p:blipFill>
        <p:spPr>
          <a:xfrm>
            <a:off x="792327" y="1828800"/>
            <a:ext cx="10607040" cy="3733678"/>
          </a:xfrm>
          <a:prstGeom prst="rect">
            <a:avLst/>
          </a:prstGeom>
        </p:spPr>
      </p:pic>
      <p:sp>
        <p:nvSpPr>
          <p:cNvPr id="6" name="TextBox 5"/>
          <p:cNvSpPr txBox="1"/>
          <p:nvPr/>
        </p:nvSpPr>
        <p:spPr>
          <a:xfrm>
            <a:off x="777240" y="5943600"/>
            <a:ext cx="10607040" cy="731520"/>
          </a:xfrm>
          <a:prstGeom prst="rect">
            <a:avLst/>
          </a:prstGeom>
          <a:noFill/>
        </p:spPr>
        <p:txBody>
          <a:bodyPr wrap="square" anchor="t">
            <a:spAutoFit/>
          </a:bodyPr>
          <a:lstStyle/>
          <a:p>
            <a:pPr algn="l">
              <a:lnSpc>
                <a:spcPct val="115000"/>
              </a:lnSpc>
            </a:pPr>
            <a:r>
              <a:rPr sz="1300" b="0" i="1">
                <a:solidFill>
                  <a:srgbClr val="8A94A6"/>
                </a:solidFill>
                <a:latin typeface="Segoe UI"/>
              </a:rPr>
              <a:t>Left proves only that the network fits its own labels. Right is the same network scored every five epochs on seeds it was never trained on. It stays under both baselines at every single probe, and it wanders - which is what a real measurement looks like.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AND ON A REAL ROAD</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000" b="1" i="0">
                <a:solidFill>
                  <a:srgbClr val="E8ECF2"/>
                </a:solidFill>
                <a:latin typeface="Segoe UI"/>
              </a:rPr>
              <a:t>Vijayawada corridor · 1.71 km · 19 signalised junctions</a:t>
            </a:r>
          </a:p>
        </p:txBody>
      </p:sp>
      <p:pic>
        <p:nvPicPr>
          <p:cNvPr id="5" name="Picture 4" descr="corridor.png"/>
          <p:cNvPicPr>
            <a:picLocks noChangeAspect="1"/>
          </p:cNvPicPr>
          <p:nvPr/>
        </p:nvPicPr>
        <p:blipFill>
          <a:blip r:embed="rId2"/>
          <a:stretch>
            <a:fillRect/>
          </a:stretch>
        </p:blipFill>
        <p:spPr>
          <a:xfrm>
            <a:off x="975207" y="1965960"/>
            <a:ext cx="10241280" cy="3584448"/>
          </a:xfrm>
          <a:prstGeom prst="rect">
            <a:avLst/>
          </a:prstGeom>
        </p:spPr>
      </p:pic>
      <p:sp>
        <p:nvSpPr>
          <p:cNvPr id="6" name="TextBox 5"/>
          <p:cNvSpPr txBox="1"/>
          <p:nvPr/>
        </p:nvSpPr>
        <p:spPr>
          <a:xfrm>
            <a:off x="777240" y="5806440"/>
            <a:ext cx="10607040" cy="731520"/>
          </a:xfrm>
          <a:prstGeom prst="rect">
            <a:avLst/>
          </a:prstGeom>
          <a:noFill/>
        </p:spPr>
        <p:txBody>
          <a:bodyPr wrap="square" anchor="t">
            <a:spAutoFit/>
          </a:bodyPr>
          <a:lstStyle/>
          <a:p>
            <a:pPr algn="l">
              <a:lnSpc>
                <a:spcPct val="115000"/>
              </a:lnSpc>
            </a:pPr>
            <a:r>
              <a:rPr sz="1400" b="0" i="1">
                <a:solidFill>
                  <a:srgbClr val="8A94A6"/>
                </a:solidFill>
                <a:latin typeface="Segoe UI"/>
              </a:rPr>
              <a:t>Imported from OpenStreetMap, simulated in SUMO. The ambulance gains and everyone else does not lose - which is the only version of this that a city would accept.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WHAT IS ALREADY OUT THERE</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200" b="1" i="0">
                <a:solidFill>
                  <a:srgbClr val="E8ECF2"/>
                </a:solidFill>
                <a:latin typeface="Segoe UI"/>
              </a:rPr>
              <a:t>Adaptive control is not new. I am not pretending it is.</a:t>
            </a:r>
          </a:p>
        </p:txBody>
      </p:sp>
      <p:sp>
        <p:nvSpPr>
          <p:cNvPr id="5" name="Rectangle 4"/>
          <p:cNvSpPr/>
          <p:nvPr/>
        </p:nvSpPr>
        <p:spPr>
          <a:xfrm>
            <a:off x="777240" y="1965960"/>
            <a:ext cx="822960" cy="32004"/>
          </a:xfrm>
          <a:prstGeom prst="rect">
            <a:avLst/>
          </a:prstGeom>
          <a:solidFill>
            <a:srgbClr val="8A94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240280"/>
            <a:ext cx="4937760" cy="2194560"/>
          </a:xfrm>
          <a:prstGeom prst="rect">
            <a:avLst/>
          </a:prstGeom>
          <a:noFill/>
        </p:spPr>
        <p:txBody>
          <a:bodyPr wrap="square" anchor="t">
            <a:spAutoFit/>
          </a:bodyPr>
          <a:lstStyle/>
          <a:p>
            <a:pPr algn="l">
              <a:lnSpc>
                <a:spcPct val="140000"/>
              </a:lnSpc>
            </a:pPr>
            <a:r>
              <a:rPr sz="1500" b="0" i="0">
                <a:solidFill>
                  <a:srgbClr val="8A94A6"/>
                </a:solidFill>
                <a:latin typeface="Segoe UI"/>
              </a:rPr>
              <a:t>ALREADY DEPLOYED</a:t>
            </a:r>
          </a:p>
          <a:p>
            <a:pPr algn="l">
              <a:lnSpc>
                <a:spcPct val="140000"/>
              </a:lnSpc>
            </a:pPr>
            <a:r>
              <a:rPr sz="1500" b="0" i="0">
                <a:solidFill>
                  <a:srgbClr val="8A94A6"/>
                </a:solidFill>
                <a:latin typeface="Segoe UI"/>
              </a:rPr>
              <a:t/>
            </a:r>
          </a:p>
          <a:p>
            <a:pPr algn="l">
              <a:lnSpc>
                <a:spcPct val="140000"/>
              </a:lnSpc>
            </a:pPr>
            <a:r>
              <a:rPr sz="1500" b="0" i="0">
                <a:solidFill>
                  <a:srgbClr val="8A94A6"/>
                </a:solidFill>
                <a:latin typeface="Segoe UI"/>
              </a:rPr>
              <a:t>Bengaluru B-ATCS</a:t>
            </a:r>
          </a:p>
          <a:p>
            <a:pPr algn="l">
              <a:lnSpc>
                <a:spcPct val="140000"/>
              </a:lnSpc>
            </a:pPr>
            <a:r>
              <a:rPr sz="1500" b="0" i="0">
                <a:solidFill>
                  <a:srgbClr val="8A94A6"/>
                </a:solidFill>
                <a:latin typeface="Segoe UI"/>
              </a:rPr>
              <a:t>~165 junctions, ~33% at Hudson Circle</a:t>
            </a:r>
          </a:p>
          <a:p>
            <a:pPr algn="l">
              <a:lnSpc>
                <a:spcPct val="140000"/>
              </a:lnSpc>
            </a:pPr>
            <a:r>
              <a:rPr sz="1500" b="0" i="0">
                <a:solidFill>
                  <a:srgbClr val="8A94A6"/>
                </a:solidFill>
                <a:latin typeface="Segoe UI"/>
              </a:rPr>
              <a:t/>
            </a:r>
          </a:p>
          <a:p>
            <a:pPr algn="l">
              <a:lnSpc>
                <a:spcPct val="140000"/>
              </a:lnSpc>
            </a:pPr>
            <a:r>
              <a:rPr sz="1500" b="0" i="0">
                <a:solidFill>
                  <a:srgbClr val="8A94A6"/>
                </a:solidFill>
                <a:latin typeface="Segoe UI"/>
              </a:rPr>
              <a:t>Pittsburgh Surtrac</a:t>
            </a:r>
          </a:p>
          <a:p>
            <a:pPr algn="l">
              <a:lnSpc>
                <a:spcPct val="140000"/>
              </a:lnSpc>
            </a:pPr>
            <a:r>
              <a:rPr sz="1500" b="0" i="0">
                <a:solidFill>
                  <a:srgbClr val="8A94A6"/>
                </a:solidFill>
                <a:latin typeface="Segoe UI"/>
              </a:rPr>
              <a:t>~25% travel time reduction</a:t>
            </a:r>
          </a:p>
        </p:txBody>
      </p:sp>
      <p:sp>
        <p:nvSpPr>
          <p:cNvPr id="7" name="Rectangle 6"/>
          <p:cNvSpPr/>
          <p:nvPr/>
        </p:nvSpPr>
        <p:spPr>
          <a:xfrm>
            <a:off x="6126480" y="1965960"/>
            <a:ext cx="822960" cy="3200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80" y="2240280"/>
            <a:ext cx="5212080" cy="2926080"/>
          </a:xfrm>
          <a:prstGeom prst="rect">
            <a:avLst/>
          </a:prstGeom>
          <a:noFill/>
        </p:spPr>
        <p:txBody>
          <a:bodyPr wrap="square" anchor="t">
            <a:spAutoFit/>
          </a:bodyPr>
          <a:lstStyle/>
          <a:p>
            <a:pPr algn="l">
              <a:lnSpc>
                <a:spcPct val="140000"/>
              </a:lnSpc>
            </a:pPr>
            <a:r>
              <a:rPr sz="1500" b="0" i="0">
                <a:solidFill>
                  <a:srgbClr val="E8ECF2"/>
                </a:solidFill>
                <a:latin typeface="Segoe UI"/>
              </a:rPr>
              <a:t>WHAT THEY DO NOT GIVE YOU</a:t>
            </a:r>
          </a:p>
          <a:p>
            <a:pPr algn="l">
              <a:lnSpc>
                <a:spcPct val="140000"/>
              </a:lnSpc>
            </a:pPr>
            <a:r>
              <a:rPr sz="1500" b="0" i="0">
                <a:solidFill>
                  <a:srgbClr val="E8ECF2"/>
                </a:solidFill>
                <a:latin typeface="Segoe UI"/>
              </a:rPr>
              <a:t/>
            </a:r>
          </a:p>
          <a:p>
            <a:pPr algn="l">
              <a:lnSpc>
                <a:spcPct val="140000"/>
              </a:lnSpc>
            </a:pPr>
            <a:r>
              <a:rPr sz="1500" b="0" i="0">
                <a:solidFill>
                  <a:srgbClr val="E8ECF2"/>
                </a:solidFill>
                <a:latin typeface="Segoe UI"/>
              </a:rPr>
              <a:t>Preview a change before deploying it,</a:t>
            </a:r>
          </a:p>
          <a:p>
            <a:pPr algn="l">
              <a:lnSpc>
                <a:spcPct val="140000"/>
              </a:lnSpc>
            </a:pPr>
            <a:r>
              <a:rPr sz="1500" b="0" i="0">
                <a:solidFill>
                  <a:srgbClr val="E8ECF2"/>
                </a:solidFill>
                <a:latin typeface="Segoe UI"/>
              </a:rPr>
              <a:t>on the same traffic</a:t>
            </a:r>
          </a:p>
          <a:p>
            <a:pPr algn="l">
              <a:lnSpc>
                <a:spcPct val="140000"/>
              </a:lnSpc>
            </a:pPr>
            <a:r>
              <a:rPr sz="1500" b="0" i="0">
                <a:solidFill>
                  <a:srgbClr val="E8ECF2"/>
                </a:solidFill>
                <a:latin typeface="Segoe UI"/>
              </a:rPr>
              <a:t/>
            </a:r>
          </a:p>
          <a:p>
            <a:pPr algn="l">
              <a:lnSpc>
                <a:spcPct val="140000"/>
              </a:lnSpc>
            </a:pPr>
            <a:r>
              <a:rPr sz="1500" b="0" i="0">
                <a:solidFill>
                  <a:srgbClr val="E8ECF2"/>
                </a:solidFill>
                <a:latin typeface="Segoe UI"/>
              </a:rPr>
              <a:t>A stated reason for every decision,</a:t>
            </a:r>
          </a:p>
          <a:p>
            <a:pPr algn="l">
              <a:lnSpc>
                <a:spcPct val="140000"/>
              </a:lnSpc>
            </a:pPr>
            <a:r>
              <a:rPr sz="1500" b="0" i="0">
                <a:solidFill>
                  <a:srgbClr val="E8ECF2"/>
                </a:solidFill>
                <a:latin typeface="Segoe UI"/>
              </a:rPr>
              <a:t>in numbers you can check</a:t>
            </a:r>
          </a:p>
          <a:p>
            <a:pPr algn="l">
              <a:lnSpc>
                <a:spcPct val="140000"/>
              </a:lnSpc>
            </a:pPr>
            <a:r>
              <a:rPr sz="1500" b="0" i="0">
                <a:solidFill>
                  <a:srgbClr val="E8ECF2"/>
                </a:solidFill>
                <a:latin typeface="Segoe UI"/>
              </a:rPr>
              <a:t/>
            </a:r>
          </a:p>
          <a:p>
            <a:pPr algn="l">
              <a:lnSpc>
                <a:spcPct val="140000"/>
              </a:lnSpc>
            </a:pPr>
            <a:r>
              <a:rPr sz="1500" b="0" i="0">
                <a:solidFill>
                  <a:srgbClr val="E8ECF2"/>
                </a:solidFill>
                <a:latin typeface="Segoe UI"/>
              </a:rPr>
              <a:t>A published price for granting priority</a:t>
            </a:r>
          </a:p>
        </p:txBody>
      </p:sp>
      <p:sp>
        <p:nvSpPr>
          <p:cNvPr id="9" name="TextBox 8"/>
          <p:cNvSpPr txBox="1"/>
          <p:nvPr/>
        </p:nvSpPr>
        <p:spPr>
          <a:xfrm>
            <a:off x="777240" y="5577840"/>
            <a:ext cx="10607040" cy="731520"/>
          </a:xfrm>
          <a:prstGeom prst="rect">
            <a:avLst/>
          </a:prstGeom>
          <a:noFill/>
        </p:spPr>
        <p:txBody>
          <a:bodyPr wrap="square" anchor="t">
            <a:spAutoFit/>
          </a:bodyPr>
          <a:lstStyle/>
          <a:p>
            <a:pPr algn="l">
              <a:lnSpc>
                <a:spcPct val="115000"/>
              </a:lnSpc>
            </a:pPr>
            <a:r>
              <a:rPr sz="1500" b="1" i="0">
                <a:solidFill>
                  <a:srgbClr val="F5A524"/>
                </a:solidFill>
                <a:latin typeface="Segoe UI"/>
              </a:rPr>
              <a:t>The narrow true claim beats the broad false one - and a judge can only catch you on the second.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WHAT BREAKS FIRST</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600" b="1" i="0">
                <a:solidFill>
                  <a:srgbClr val="E8ECF2"/>
                </a:solidFill>
                <a:latin typeface="Segoe UI"/>
              </a:rPr>
              <a:t>Why the QUBO is the interesting part</a:t>
            </a:r>
          </a:p>
        </p:txBody>
      </p:sp>
      <p:pic>
        <p:nvPicPr>
          <p:cNvPr id="5" name="Picture 4" descr="scale.png"/>
          <p:cNvPicPr>
            <a:picLocks noChangeAspect="1"/>
          </p:cNvPicPr>
          <p:nvPr/>
        </p:nvPicPr>
        <p:blipFill>
          <a:blip r:embed="rId2"/>
          <a:stretch>
            <a:fillRect/>
          </a:stretch>
        </p:blipFill>
        <p:spPr>
          <a:xfrm>
            <a:off x="1432407" y="1920240"/>
            <a:ext cx="9326880" cy="412346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THE THING I DID NOT EXPECT TO FIND</a:t>
            </a:r>
          </a:p>
        </p:txBody>
      </p:sp>
      <p:pic>
        <p:nvPicPr>
          <p:cNvPr id="4" name="Picture 3" descr="osm.png"/>
          <p:cNvPicPr>
            <a:picLocks noChangeAspect="1"/>
          </p:cNvPicPr>
          <p:nvPr/>
        </p:nvPicPr>
        <p:blipFill>
          <a:blip r:embed="rId2"/>
          <a:stretch>
            <a:fillRect/>
          </a:stretch>
        </p:blipFill>
        <p:spPr>
          <a:xfrm>
            <a:off x="1066647" y="1737360"/>
            <a:ext cx="10058400" cy="3621024"/>
          </a:xfrm>
          <a:prstGeom prst="rect">
            <a:avLst/>
          </a:prstGeom>
        </p:spPr>
      </p:pic>
      <p:sp>
        <p:nvSpPr>
          <p:cNvPr id="5" name="TextBox 4"/>
          <p:cNvSpPr txBox="1"/>
          <p:nvPr/>
        </p:nvSpPr>
        <p:spPr>
          <a:xfrm>
            <a:off x="777240" y="5120640"/>
            <a:ext cx="10607040" cy="1097280"/>
          </a:xfrm>
          <a:prstGeom prst="rect">
            <a:avLst/>
          </a:prstGeom>
          <a:noFill/>
        </p:spPr>
        <p:txBody>
          <a:bodyPr wrap="square" anchor="t">
            <a:spAutoFit/>
          </a:bodyPr>
          <a:lstStyle/>
          <a:p>
            <a:pPr algn="ctr">
              <a:lnSpc>
                <a:spcPct val="135000"/>
              </a:lnSpc>
            </a:pPr>
            <a:r>
              <a:rPr sz="2100" b="0" i="0">
                <a:solidFill>
                  <a:srgbClr val="E8ECF2"/>
                </a:solidFill>
                <a:latin typeface="Segoe UI"/>
              </a:rPr>
              <a:t>So the first useful thing is not a better algorithm.</a:t>
            </a:r>
          </a:p>
          <a:p>
            <a:pPr algn="ctr">
              <a:lnSpc>
                <a:spcPct val="135000"/>
              </a:lnSpc>
            </a:pPr>
            <a:r>
              <a:rPr sz="2100" b="0" i="0">
                <a:solidFill>
                  <a:srgbClr val="E8ECF2"/>
                </a:solidFill>
                <a:latin typeface="Segoe UI"/>
              </a:rPr>
              <a:t>It is a place to test decisions before you can afford the sensors.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10058400" cy="365760"/>
          </a:xfrm>
          <a:prstGeom prst="rect">
            <a:avLst/>
          </a:prstGeom>
          <a:noFill/>
        </p:spPr>
        <p:txBody>
          <a:bodyPr wrap="square" anchor="t">
            <a:spAutoFit/>
          </a:bodyPr>
          <a:lstStyle/>
          <a:p>
            <a:pPr algn="l">
              <a:lnSpc>
                <a:spcPct val="115000"/>
              </a:lnSpc>
            </a:pPr>
            <a:r>
              <a:rPr sz="1300" b="1" i="0">
                <a:solidFill>
                  <a:srgbClr val="F5A524"/>
                </a:solidFill>
                <a:latin typeface="Consolas"/>
              </a:rPr>
              <a:t>HOW YOU KNOW IT RUNS</a:t>
            </a:r>
          </a:p>
        </p:txBody>
      </p:sp>
      <p:sp>
        <p:nvSpPr>
          <p:cNvPr id="4" name="TextBox 3"/>
          <p:cNvSpPr txBox="1"/>
          <p:nvPr/>
        </p:nvSpPr>
        <p:spPr>
          <a:xfrm>
            <a:off x="777240" y="960120"/>
            <a:ext cx="10607040" cy="1188720"/>
          </a:xfrm>
          <a:prstGeom prst="rect">
            <a:avLst/>
          </a:prstGeom>
          <a:noFill/>
        </p:spPr>
        <p:txBody>
          <a:bodyPr wrap="square" anchor="t">
            <a:spAutoFit/>
          </a:bodyPr>
          <a:lstStyle/>
          <a:p>
            <a:pPr algn="l">
              <a:lnSpc>
                <a:spcPct val="115000"/>
              </a:lnSpc>
            </a:pPr>
            <a:r>
              <a:rPr sz="3800" b="1" i="0">
                <a:solidFill>
                  <a:srgbClr val="E8ECF2"/>
                </a:solidFill>
                <a:latin typeface="Segoe UI"/>
              </a:rPr>
              <a:t>It is tested, not just demoed</a:t>
            </a:r>
          </a:p>
        </p:txBody>
      </p:sp>
      <p:sp>
        <p:nvSpPr>
          <p:cNvPr id="5" name="Rounded Rectangle 4"/>
          <p:cNvSpPr/>
          <p:nvPr/>
        </p:nvSpPr>
        <p:spPr>
          <a:xfrm>
            <a:off x="777240" y="2194560"/>
            <a:ext cx="3291840" cy="1828800"/>
          </a:xfrm>
          <a:prstGeom prst="roundRect">
            <a:avLst/>
          </a:prstGeom>
          <a:solidFill>
            <a:srgbClr val="171C24"/>
          </a:solidFill>
          <a:ln w="15875">
            <a:solidFill>
              <a:srgbClr val="2ECC7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5840" y="2450591"/>
            <a:ext cx="2834640" cy="822960"/>
          </a:xfrm>
          <a:prstGeom prst="rect">
            <a:avLst/>
          </a:prstGeom>
          <a:noFill/>
        </p:spPr>
        <p:txBody>
          <a:bodyPr wrap="square" anchor="t">
            <a:spAutoFit/>
          </a:bodyPr>
          <a:lstStyle/>
          <a:p>
            <a:pPr algn="l">
              <a:lnSpc>
                <a:spcPct val="115000"/>
              </a:lnSpc>
            </a:pPr>
            <a:r>
              <a:rPr sz="3400" b="1" i="0">
                <a:solidFill>
                  <a:srgbClr val="2ECC71"/>
                </a:solidFill>
                <a:latin typeface="Segoe UI"/>
              </a:rPr>
              <a:t>21</a:t>
            </a:r>
          </a:p>
        </p:txBody>
      </p:sp>
      <p:sp>
        <p:nvSpPr>
          <p:cNvPr id="7" name="TextBox 6"/>
          <p:cNvSpPr txBox="1"/>
          <p:nvPr/>
        </p:nvSpPr>
        <p:spPr>
          <a:xfrm>
            <a:off x="1005840" y="3218688"/>
            <a:ext cx="2834640" cy="731520"/>
          </a:xfrm>
          <a:prstGeom prst="rect">
            <a:avLst/>
          </a:prstGeom>
          <a:noFill/>
        </p:spPr>
        <p:txBody>
          <a:bodyPr wrap="square" anchor="t">
            <a:spAutoFit/>
          </a:bodyPr>
          <a:lstStyle/>
          <a:p>
            <a:pPr algn="l">
              <a:lnSpc>
                <a:spcPct val="115000"/>
              </a:lnSpc>
            </a:pPr>
            <a:r>
              <a:rPr sz="1300" b="0" i="0">
                <a:solidFill>
                  <a:srgbClr val="8A94A6"/>
                </a:solidFill>
                <a:latin typeface="Segoe UI"/>
              </a:rPr>
              <a:t>simulation assertions</a:t>
            </a:r>
          </a:p>
          <a:p>
            <a:pPr algn="l">
              <a:lnSpc>
                <a:spcPct val="115000"/>
              </a:lnSpc>
            </a:pPr>
            <a:r>
              <a:rPr sz="1300" b="0" i="0">
                <a:solidFill>
                  <a:srgbClr val="8A94A6"/>
                </a:solidFill>
                <a:latin typeface="Segoe UI"/>
              </a:rPr>
              <a:t>no browser needed</a:t>
            </a:r>
          </a:p>
        </p:txBody>
      </p:sp>
      <p:sp>
        <p:nvSpPr>
          <p:cNvPr id="8" name="Rounded Rectangle 7"/>
          <p:cNvSpPr/>
          <p:nvPr/>
        </p:nvSpPr>
        <p:spPr>
          <a:xfrm>
            <a:off x="4434840" y="2194560"/>
            <a:ext cx="3291840" cy="1828800"/>
          </a:xfrm>
          <a:prstGeom prst="roundRect">
            <a:avLst/>
          </a:prstGeom>
          <a:solidFill>
            <a:srgbClr val="171C24"/>
          </a:solidFill>
          <a:ln w="15875">
            <a:solidFill>
              <a:srgbClr val="4C9A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63440" y="2450591"/>
            <a:ext cx="2834640" cy="822960"/>
          </a:xfrm>
          <a:prstGeom prst="rect">
            <a:avLst/>
          </a:prstGeom>
          <a:noFill/>
        </p:spPr>
        <p:txBody>
          <a:bodyPr wrap="square" anchor="t">
            <a:spAutoFit/>
          </a:bodyPr>
          <a:lstStyle/>
          <a:p>
            <a:pPr algn="l">
              <a:lnSpc>
                <a:spcPct val="115000"/>
              </a:lnSpc>
            </a:pPr>
            <a:r>
              <a:rPr sz="3400" b="1" i="0">
                <a:solidFill>
                  <a:srgbClr val="4C9AFF"/>
                </a:solidFill>
                <a:latin typeface="Segoe UI"/>
              </a:rPr>
              <a:t>44</a:t>
            </a:r>
          </a:p>
        </p:txBody>
      </p:sp>
      <p:sp>
        <p:nvSpPr>
          <p:cNvPr id="10" name="TextBox 9"/>
          <p:cNvSpPr txBox="1"/>
          <p:nvPr/>
        </p:nvSpPr>
        <p:spPr>
          <a:xfrm>
            <a:off x="4663440" y="3218688"/>
            <a:ext cx="2834640" cy="731520"/>
          </a:xfrm>
          <a:prstGeom prst="rect">
            <a:avLst/>
          </a:prstGeom>
          <a:noFill/>
        </p:spPr>
        <p:txBody>
          <a:bodyPr wrap="square" anchor="t">
            <a:spAutoFit/>
          </a:bodyPr>
          <a:lstStyle/>
          <a:p>
            <a:pPr algn="l">
              <a:lnSpc>
                <a:spcPct val="115000"/>
              </a:lnSpc>
            </a:pPr>
            <a:r>
              <a:rPr sz="1300" b="0" i="0">
                <a:solidFill>
                  <a:srgbClr val="8A94A6"/>
                </a:solidFill>
                <a:latin typeface="Segoe UI"/>
              </a:rPr>
              <a:t>checks driving both pages</a:t>
            </a:r>
          </a:p>
          <a:p>
            <a:pPr algn="l">
              <a:lnSpc>
                <a:spcPct val="115000"/>
              </a:lnSpc>
            </a:pPr>
            <a:r>
              <a:rPr sz="1300" b="0" i="0">
                <a:solidFill>
                  <a:srgbClr val="8A94A6"/>
                </a:solidFill>
                <a:latin typeface="Segoe UI"/>
              </a:rPr>
              <a:t>in real Chromium</a:t>
            </a:r>
          </a:p>
        </p:txBody>
      </p:sp>
      <p:sp>
        <p:nvSpPr>
          <p:cNvPr id="11" name="Rounded Rectangle 10"/>
          <p:cNvSpPr/>
          <p:nvPr/>
        </p:nvSpPr>
        <p:spPr>
          <a:xfrm>
            <a:off x="8092440" y="2194560"/>
            <a:ext cx="3291840" cy="1828800"/>
          </a:xfrm>
          <a:prstGeom prst="roundRect">
            <a:avLst/>
          </a:prstGeom>
          <a:solidFill>
            <a:srgbClr val="171C24"/>
          </a:solidFill>
          <a:ln w="15875">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321040" y="2450591"/>
            <a:ext cx="2834640" cy="822960"/>
          </a:xfrm>
          <a:prstGeom prst="rect">
            <a:avLst/>
          </a:prstGeom>
          <a:noFill/>
        </p:spPr>
        <p:txBody>
          <a:bodyPr wrap="square" anchor="t">
            <a:spAutoFit/>
          </a:bodyPr>
          <a:lstStyle/>
          <a:p>
            <a:pPr algn="l">
              <a:lnSpc>
                <a:spcPct val="115000"/>
              </a:lnSpc>
            </a:pPr>
            <a:r>
              <a:rPr sz="3400" b="1" i="0">
                <a:solidFill>
                  <a:srgbClr val="F5A524"/>
                </a:solidFill>
                <a:latin typeface="Segoe UI"/>
              </a:rPr>
              <a:t>0</a:t>
            </a:r>
          </a:p>
        </p:txBody>
      </p:sp>
      <p:sp>
        <p:nvSpPr>
          <p:cNvPr id="13" name="TextBox 12"/>
          <p:cNvSpPr txBox="1"/>
          <p:nvPr/>
        </p:nvSpPr>
        <p:spPr>
          <a:xfrm>
            <a:off x="8321040" y="3218688"/>
            <a:ext cx="2834640" cy="731520"/>
          </a:xfrm>
          <a:prstGeom prst="rect">
            <a:avLst/>
          </a:prstGeom>
          <a:noFill/>
        </p:spPr>
        <p:txBody>
          <a:bodyPr wrap="square" anchor="t">
            <a:spAutoFit/>
          </a:bodyPr>
          <a:lstStyle/>
          <a:p>
            <a:pPr algn="l">
              <a:lnSpc>
                <a:spcPct val="115000"/>
              </a:lnSpc>
            </a:pPr>
            <a:r>
              <a:rPr sz="1300" b="0" i="0">
                <a:solidFill>
                  <a:srgbClr val="8A94A6"/>
                </a:solidFill>
                <a:latin typeface="Segoe UI"/>
              </a:rPr>
              <a:t>console errors</a:t>
            </a:r>
          </a:p>
          <a:p>
            <a:pPr algn="l">
              <a:lnSpc>
                <a:spcPct val="115000"/>
              </a:lnSpc>
            </a:pPr>
            <a:r>
              <a:rPr sz="1300" b="0" i="0">
                <a:solidFill>
                  <a:srgbClr val="8A94A6"/>
                </a:solidFill>
                <a:latin typeface="Segoe UI"/>
              </a:rPr>
              <a:t>across the whole run</a:t>
            </a:r>
          </a:p>
        </p:txBody>
      </p:sp>
      <p:sp>
        <p:nvSpPr>
          <p:cNvPr id="14" name="TextBox 13"/>
          <p:cNvSpPr txBox="1"/>
          <p:nvPr/>
        </p:nvSpPr>
        <p:spPr>
          <a:xfrm>
            <a:off x="777240" y="4572000"/>
            <a:ext cx="10607040" cy="1463040"/>
          </a:xfrm>
          <a:prstGeom prst="rect">
            <a:avLst/>
          </a:prstGeom>
          <a:noFill/>
        </p:spPr>
        <p:txBody>
          <a:bodyPr wrap="square" anchor="t">
            <a:spAutoFit/>
          </a:bodyPr>
          <a:lstStyle/>
          <a:p>
            <a:pPr algn="l">
              <a:lnSpc>
                <a:spcPct val="135000"/>
              </a:lnSpc>
            </a:pPr>
            <a:r>
              <a:rPr sz="1600" b="0" i="0">
                <a:solidFill>
                  <a:srgbClr val="8A94A6"/>
                </a:solidFill>
                <a:latin typeface="Segoe UI"/>
              </a:rPr>
              <a:t>The browser harness opens both interfaces, clicks through the demo, fires the misuse attack, switches controllers, and fails on any console error or unhandled rejection.</a:t>
            </a:r>
          </a:p>
          <a:p>
            <a:pPr algn="l">
              <a:lnSpc>
                <a:spcPct val="135000"/>
              </a:lnSpc>
            </a:pPr>
            <a:r>
              <a:rPr sz="1600" b="0" i="0">
                <a:solidFill>
                  <a:srgbClr val="8A94A6"/>
                </a:solidFill>
                <a:latin typeface="Segoe UI"/>
              </a:rPr>
              <a:t/>
            </a:r>
          </a:p>
          <a:p>
            <a:pPr algn="l">
              <a:lnSpc>
                <a:spcPct val="135000"/>
              </a:lnSpc>
            </a:pPr>
            <a:r>
              <a:rPr sz="1600" b="0" i="0">
                <a:solidFill>
                  <a:srgbClr val="8A94A6"/>
                </a:solidFill>
                <a:latin typeface="Segoe UI"/>
              </a:rPr>
              <a:t>It is the check that stops a demo dying in front of a judge.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1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77240" y="2103120"/>
            <a:ext cx="2011680" cy="32004"/>
          </a:xfrm>
          <a:prstGeom prst="rect">
            <a:avLst/>
          </a:prstGeom>
          <a:solidFill>
            <a:srgbClr val="F5A5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2468880"/>
            <a:ext cx="10607040" cy="2194560"/>
          </a:xfrm>
          <a:prstGeom prst="rect">
            <a:avLst/>
          </a:prstGeom>
          <a:noFill/>
        </p:spPr>
        <p:txBody>
          <a:bodyPr wrap="square" anchor="t">
            <a:spAutoFit/>
          </a:bodyPr>
          <a:lstStyle/>
          <a:p>
            <a:pPr algn="l">
              <a:lnSpc>
                <a:spcPct val="125000"/>
              </a:lnSpc>
            </a:pPr>
            <a:r>
              <a:rPr sz="3600" b="1" i="0">
                <a:solidFill>
                  <a:srgbClr val="E8ECF2"/>
                </a:solidFill>
                <a:latin typeface="Segoe UI"/>
              </a:rPr>
              <a:t>Before a city changes a signal,</a:t>
            </a:r>
          </a:p>
          <a:p>
            <a:pPr algn="l">
              <a:lnSpc>
                <a:spcPct val="125000"/>
              </a:lnSpc>
            </a:pPr>
            <a:r>
              <a:rPr sz="3600" b="1" i="0">
                <a:solidFill>
                  <a:srgbClr val="E8ECF2"/>
                </a:solidFill>
                <a:latin typeface="Segoe UI"/>
              </a:rPr>
              <a:t>it should be able to try the change</a:t>
            </a:r>
          </a:p>
          <a:p>
            <a:pPr algn="l">
              <a:lnSpc>
                <a:spcPct val="125000"/>
              </a:lnSpc>
            </a:pPr>
            <a:r>
              <a:rPr sz="3600" b="1" i="0">
                <a:solidFill>
                  <a:srgbClr val="E8ECF2"/>
                </a:solidFill>
                <a:latin typeface="Segoe UI"/>
              </a:rPr>
              <a:t>and see who pays for it.</a:t>
            </a:r>
          </a:p>
        </p:txBody>
      </p:sp>
      <p:sp>
        <p:nvSpPr>
          <p:cNvPr id="5" name="TextBox 4"/>
          <p:cNvSpPr txBox="1"/>
          <p:nvPr/>
        </p:nvSpPr>
        <p:spPr>
          <a:xfrm>
            <a:off x="777240" y="4846320"/>
            <a:ext cx="10607040" cy="731520"/>
          </a:xfrm>
          <a:prstGeom prst="rect">
            <a:avLst/>
          </a:prstGeom>
          <a:noFill/>
        </p:spPr>
        <p:txBody>
          <a:bodyPr wrap="square" anchor="t">
            <a:spAutoFit/>
          </a:bodyPr>
          <a:lstStyle/>
          <a:p>
            <a:pPr algn="l">
              <a:lnSpc>
                <a:spcPct val="115000"/>
              </a:lnSpc>
            </a:pPr>
            <a:r>
              <a:rPr sz="3000" b="1" i="0">
                <a:solidFill>
                  <a:srgbClr val="F5A524"/>
                </a:solidFill>
                <a:latin typeface="Segoe UI"/>
              </a:rPr>
              <a:t>I built the place to try it.</a:t>
            </a:r>
          </a:p>
        </p:txBody>
      </p:sp>
      <p:sp>
        <p:nvSpPr>
          <p:cNvPr id="6" name="TextBox 5"/>
          <p:cNvSpPr txBox="1"/>
          <p:nvPr/>
        </p:nvSpPr>
        <p:spPr>
          <a:xfrm>
            <a:off x="777240" y="5943600"/>
            <a:ext cx="10607040" cy="548640"/>
          </a:xfrm>
          <a:prstGeom prst="rect">
            <a:avLst/>
          </a:prstGeom>
          <a:noFill/>
        </p:spPr>
        <p:txBody>
          <a:bodyPr wrap="square" anchor="t">
            <a:spAutoFit/>
          </a:bodyPr>
          <a:lstStyle/>
          <a:p>
            <a:pPr algn="l">
              <a:lnSpc>
                <a:spcPct val="115000"/>
              </a:lnSpc>
            </a:pPr>
            <a:r>
              <a:rPr sz="1700" b="0" i="1">
                <a:solidFill>
                  <a:srgbClr val="8A94A6"/>
                </a:solidFill>
                <a:latin typeface="Segoe UI"/>
              </a:rPr>
              <a:t>Ask me anything — including what does not 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
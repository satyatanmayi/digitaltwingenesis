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874519"/>
            <a:ext cx="2011680" cy="32004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E8ECF2"/>
                </a:solidFill>
                <a:latin typeface="Segoe UI"/>
              </a:rPr>
              <a:t>A place to try a traffic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5A524"/>
                </a:solidFill>
                <a:latin typeface="Segoe UI"/>
              </a:rPr>
              <a:t>before you make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Digital twin of a signalised intersection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150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A94A6"/>
                </a:solidFill>
                <a:latin typeface="Consolas"/>
              </a:rPr>
              <a:t>TEAM NEXUS    ·    PROBLEM STATEMENT 4    ·    IEEE GENESIS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WHY THIS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E8ECF2"/>
                </a:solidFill>
                <a:latin typeface="Segoe UI"/>
              </a:rPr>
              <a:t>In India most families do not wait</a:t>
            </a:r>
          </a:p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E8ECF2"/>
                </a:solidFill>
                <a:latin typeface="Segoe UI"/>
              </a:rPr>
              <a:t>for an ambulance. They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9601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That happened in my family, with my grandmother.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The car was not slow. The time was lost standing still, at one red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light after another. A ten kilometre drive across this city crosses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eight to twelve signalled junctions.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AND THEN IT HIT A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8ECF2"/>
                </a:solidFill>
                <a:latin typeface="Segoe UI"/>
              </a:rPr>
              <a:t>Not a technical wall. A trust wall.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8A94A6"/>
                </a:solidFill>
                <a:latin typeface="Segoe UI"/>
              </a:rPr>
              <a:t>If you give one vehicle priority, somebody else pays for it in waiting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200400"/>
            <a:ext cx="10607040" cy="1463040"/>
          </a:xfrm>
          <a:prstGeom prst="roundRect">
            <a:avLst/>
          </a:prstGeom>
          <a:solidFill>
            <a:srgbClr val="20180A"/>
          </a:solidFill>
          <a:ln w="1905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20440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5A524"/>
                </a:solidFill>
                <a:latin typeface="Segoe UI"/>
              </a:rPr>
              <a:t>"What will this cost my network?"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E8ECF2"/>
                </a:solidFill>
                <a:latin typeface="Segoe UI"/>
              </a:rPr>
              <a:t>Nobody could answer that, because there was nowhere to try it.</a:t>
            </a:r>
          </a:p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E8ECF2"/>
                </a:solidFill>
                <a:latin typeface="Segoe UI"/>
              </a:rPr>
              <a:t>So I built the place to try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8ECF2"/>
                </a:solidFill>
                <a:latin typeface="Segoe UI"/>
              </a:rPr>
              <a:t>Three things, and only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5A524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ECF2"/>
                </a:solidFill>
                <a:latin typeface="Segoe UI"/>
              </a:rPr>
              <a:t>A twin, not an animation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41448"/>
            <a:ext cx="9875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Real traffic engineering constants. 40 km/h free flow, 2-second headway,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2-second start-up lost time, 1800 PCU/h/lane. Control delay measured the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way the Highway Capacity Manual measures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72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5A524"/>
                </a:solidFill>
                <a:latin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472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ECF2"/>
                </a:solidFill>
                <a:latin typeface="Segoe UI"/>
              </a:rPr>
              <a:t>You can change it and see what happens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922776"/>
            <a:ext cx="9875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Move a green time, press test. It replays the SAME traffic - same seed,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same vehicles, same arrival times. The difference is the plan, not luck.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28616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5A524"/>
                </a:solidFill>
                <a:latin typeface="Consola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928616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ECF2"/>
                </a:solidFill>
                <a:latin typeface="Segoe UI"/>
              </a:rPr>
              <a:t>It prices 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404104"/>
            <a:ext cx="9875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Every green corridor shows what it saved AND what everyone else paid,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in vehicle-seconds. No deployed system I could find publishes that.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8ECF2"/>
                </a:solidFill>
                <a:latin typeface="Segoe UI"/>
              </a:rPr>
              <a:t>Five controllers. One writer. One safety floor.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783080"/>
            <a:ext cx="10881360" cy="55712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8ECF2"/>
                </a:solidFill>
                <a:latin typeface="Segoe UI"/>
              </a:rPr>
              <a:t>Same traffic, twice. So the difference is the plan.</a:t>
            </a:r>
          </a:p>
        </p:txBody>
      </p:sp>
      <p:pic>
        <p:nvPicPr>
          <p:cNvPr id="5" name="Picture 4" descr="str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6766560" cy="40176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201168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Every test replays a seeded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run of identical traffic.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Change a green time, test it,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and compare against Webster's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1958 minimum-delay cycle -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which is what most Indian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junctions actually run.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The tool is not claiming to have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invented signal timing. It gives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you a way to check whether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8A94A6"/>
                </a:solidFill>
                <a:latin typeface="Segoe UI"/>
              </a:rPr>
              <a:t>your change beats the textbook.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THE IDEA NOBODY ELSE PUBLISHES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E8ECF2"/>
                </a:solidFill>
                <a:latin typeface="Segoe UI"/>
              </a:rPr>
              <a:t>Priority has a price. Show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Two ambulances, same junction, opposite roads. Both genuine.</a:t>
            </a:r>
          </a:p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8A94A6"/>
                </a:solidFill>
                <a:latin typeface="Segoe UI"/>
              </a:rPr>
              <a:t>Something has to give - and the system prints its own arithmetic for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383280"/>
            <a:ext cx="5120640" cy="1828800"/>
          </a:xfrm>
          <a:prstGeom prst="roundRect">
            <a:avLst/>
          </a:prstGeom>
          <a:solidFill>
            <a:srgbClr val="171C24"/>
          </a:solidFill>
          <a:ln w="15875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ECC71"/>
                </a:solidFill>
                <a:latin typeface="Segoe UI"/>
              </a:rPr>
              <a:t>SECONDS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07408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by the vehicle granted priority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measured live, on screen, per grant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120640" cy="1828800"/>
          </a:xfrm>
          <a:prstGeom prst="roundRect">
            <a:avLst/>
          </a:prstGeom>
          <a:solidFill>
            <a:srgbClr val="171C24"/>
          </a:solidFill>
          <a:ln w="15875">
            <a:solidFill>
              <a:srgbClr val="E54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3639312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484D"/>
                </a:solidFill>
                <a:latin typeface="Segoe UI"/>
              </a:rPr>
              <a:t>VEH-SECONDS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407408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by everybody else on the network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measured live, on screen, per grant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5A524"/>
                </a:solidFill>
                <a:latin typeface="Segoe UI"/>
              </a:rPr>
              <a:t>That second number is the reason a traffic department would ever agree to any of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THE QUESTION I WAS ASKED IN ROUND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8ECF2"/>
                </a:solidFill>
                <a:latin typeface="Segoe UI"/>
              </a:rPr>
              <a:t>"What if a terrorist misuses the button?"</a:t>
            </a:r>
          </a:p>
        </p:txBody>
      </p:sp>
      <p:pic>
        <p:nvPicPr>
          <p:cNvPr id="5" name="Picture 4" descr="mis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920240"/>
            <a:ext cx="10607040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UNDER THE BONNET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8ECF2"/>
                </a:solidFill>
                <a:latin typeface="Segoe UI"/>
              </a:rPr>
              <a:t>Four things, and what each one is honestly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463040" cy="32004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05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ECC71"/>
                </a:solidFill>
                <a:latin typeface="Consolas"/>
              </a:rPr>
              <a:t>REINFORCEMENT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5120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Trained in Python against this exact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simulator running headless in Node.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Same physics, no second implementation.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A standard DQN never beat the fixed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plan. Monte-Carlo returns did.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1463040" cy="320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1305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9AFF"/>
                </a:solidFill>
                <a:latin typeface="Consolas"/>
              </a:rPr>
              <a:t>STACKED LANGUAGE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87752"/>
            <a:ext cx="5120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One model proposes an action and a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reason. A second call reviews it and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can overrule it.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Underneath both, a local rule decides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when the API is down - and says so.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7679"/>
            <a:ext cx="1463040" cy="32004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62271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A524"/>
                </a:solidFill>
                <a:latin typeface="Consolas"/>
              </a:rPr>
              <a:t>QUANTUM-READY OPTIMISATION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19471"/>
            <a:ext cx="5120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The whole network as one QUBO - the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form a quantum annealer takes.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Solved here classically, and checked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against brute force. Nothing about it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is quantum, and I will not claim it 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297679"/>
            <a:ext cx="1463040" cy="320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462271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5484D"/>
                </a:solidFill>
                <a:latin typeface="Consolas"/>
              </a:rPr>
              <a:t>SUMO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919471"/>
            <a:ext cx="5120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Everything above is my simulator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marking its own homework.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So it was re-run in SUMO on a real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1.71 km Vijayawada corridor imported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from OpenStreetMap, 19 junctions.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STACKED MODELS, AND THE FLOOR UNDER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E8ECF2"/>
                </a:solidFill>
                <a:latin typeface="Segoe UI"/>
              </a:rPr>
              <a:t>A model marking its own homework is worth little.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5A524"/>
                </a:solidFill>
                <a:latin typeface="Segoe UI"/>
              </a:rPr>
              <a:t>Marking someone else's is worth something.</a:t>
            </a:r>
          </a:p>
        </p:txBody>
      </p:sp>
      <p:pic>
        <p:nvPicPr>
          <p:cNvPr id="6" name="Picture 5" descr="llm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468880"/>
            <a:ext cx="10424160" cy="41696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DOES IT ACTUALLY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8ECF2"/>
                </a:solidFill>
                <a:latin typeface="Segoe UI"/>
              </a:rPr>
              <a:t>Four junctions, same seeded traffic</a:t>
            </a:r>
          </a:p>
        </p:txBody>
      </p:sp>
      <p:pic>
        <p:nvPicPr>
          <p:cNvPr id="5" name="Picture 4" descr="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767" y="1828800"/>
            <a:ext cx="8138160" cy="3978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350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A94A6"/>
                </a:solidFill>
                <a:latin typeface="Segoe UI"/>
              </a:rPr>
              <a:t>Axis starts at 29s so the gap is visible. Max-Pressure is a genuinely good published controller - beating it by 1.6% is the honest claim, not 10x.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AND ON A REAL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8ECF2"/>
                </a:solidFill>
                <a:latin typeface="Segoe UI"/>
              </a:rPr>
              <a:t>Vijayawada corridor · 1.71 km · 19 signalised junctions</a:t>
            </a:r>
          </a:p>
        </p:txBody>
      </p:sp>
      <p:pic>
        <p:nvPicPr>
          <p:cNvPr id="5" name="Picture 4" descr="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07" y="1965960"/>
            <a:ext cx="10241280" cy="3584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8A94A6"/>
                </a:solidFill>
                <a:latin typeface="Segoe UI"/>
              </a:rPr>
              <a:t>Imported from OpenStreetMap, simulated in SUMO. The ambulance gains and everyone else does not lose - which is the only version of this that a city would accept.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WHAT IS ALREADY OUT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E8ECF2"/>
                </a:solidFill>
                <a:latin typeface="Segoe UI"/>
              </a:rPr>
              <a:t>Adaptive control is not new. I am not pretending it 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822960" cy="32004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>ALREADY DEPLOYED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>Bengaluru B-ATCS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>~165 junctions, ~33% at Hudson Circle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>Pittsburgh Surtrac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94A6"/>
                </a:solidFill>
                <a:latin typeface="Segoe UI"/>
              </a:rPr>
              <a:t>~25% travel time reduction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965960"/>
            <a:ext cx="822960" cy="32004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240280"/>
            <a:ext cx="52120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>WHAT THEY DO NOT GIVE YOU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>Preview a change before deploying it,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>on the same traffic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>A stated reason for every decision,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>in numbers you can check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8ECF2"/>
                </a:solidFill>
                <a:latin typeface="Segoe UI"/>
              </a:rPr>
              <a:t>A published price for granting priority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A524"/>
                </a:solidFill>
                <a:latin typeface="Segoe UI"/>
              </a:rPr>
              <a:t>The narrow true claim beats the broad false one - and a judge can only catch you on the second.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WHAT BREAKS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8ECF2"/>
                </a:solidFill>
                <a:latin typeface="Segoe UI"/>
              </a:rPr>
              <a:t>Why the QUBO is the interesting part</a:t>
            </a:r>
          </a:p>
        </p:txBody>
      </p:sp>
      <p:pic>
        <p:nvPicPr>
          <p:cNvPr id="5" name="Picture 4" descr="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920240"/>
            <a:ext cx="9326880" cy="41234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THE THING I DID NOT EXPECT TO FIND</a:t>
            </a:r>
          </a:p>
        </p:txBody>
      </p:sp>
      <p:pic>
        <p:nvPicPr>
          <p:cNvPr id="4" name="Picture 3" descr="o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737360"/>
            <a:ext cx="10058400" cy="36210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206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100" b="0" i="0">
                <a:solidFill>
                  <a:srgbClr val="E8ECF2"/>
                </a:solidFill>
                <a:latin typeface="Segoe UI"/>
              </a:rPr>
              <a:t>So the first useful thing is not a better algorithm.</a:t>
            </a:r>
          </a:p>
          <a:p>
            <a:pPr algn="ctr">
              <a:lnSpc>
                <a:spcPct val="135000"/>
              </a:lnSpc>
            </a:pPr>
            <a:r>
              <a:rPr sz="2100" b="0" i="0">
                <a:solidFill>
                  <a:srgbClr val="E8ECF2"/>
                </a:solidFill>
                <a:latin typeface="Segoe UI"/>
              </a:rPr>
              <a:t>It is a place to test decisions before you can afford the sensors.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A524"/>
                </a:solidFill>
                <a:latin typeface="Consolas"/>
              </a:rPr>
              <a:t>HOW YOU KNOW IT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E8ECF2"/>
                </a:solidFill>
                <a:latin typeface="Segoe UI"/>
              </a:rPr>
              <a:t>It is tested, not just demoed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94560"/>
            <a:ext cx="3291840" cy="1828800"/>
          </a:xfrm>
          <a:prstGeom prst="roundRect">
            <a:avLst/>
          </a:prstGeom>
          <a:solidFill>
            <a:srgbClr val="171C24"/>
          </a:solidFill>
          <a:ln w="15875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450591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2ECC71"/>
                </a:solidFill>
                <a:latin typeface="Segoe U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18688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simulation assertions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no browser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94560"/>
            <a:ext cx="3291840" cy="1828800"/>
          </a:xfrm>
          <a:prstGeom prst="roundRect">
            <a:avLst/>
          </a:prstGeom>
          <a:solidFill>
            <a:srgbClr val="171C24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450591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4C9AFF"/>
                </a:solidFill>
                <a:latin typeface="Segoe U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18688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checks driving both pages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in real Chromium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2194560"/>
            <a:ext cx="3291840" cy="1828800"/>
          </a:xfrm>
          <a:prstGeom prst="roundRect">
            <a:avLst/>
          </a:prstGeom>
          <a:solidFill>
            <a:srgbClr val="171C24"/>
          </a:solidFill>
          <a:ln w="15875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1040" y="2450591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5A524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218688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console errors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4A6"/>
                </a:solidFill>
                <a:latin typeface="Segoe UI"/>
              </a:rPr>
              <a:t>across the whole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8A94A6"/>
                </a:solidFill>
                <a:latin typeface="Segoe UI"/>
              </a:rPr>
              <a:t>The browser harness opens both interfaces, clicks through the demo, fires the misuse attack, switches controllers, and fails on any console error or unhandled rejection.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8A94A6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8A94A6"/>
                </a:solidFill>
                <a:latin typeface="Segoe UI"/>
              </a:rPr>
              <a:t>It is the check that stops a demo dying in front of a judge.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103120"/>
            <a:ext cx="2011680" cy="32004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E8ECF2"/>
                </a:solidFill>
                <a:latin typeface="Segoe UI"/>
              </a:rPr>
              <a:t>Before a city changes a signal,</a:t>
            </a:r>
          </a:p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E8ECF2"/>
                </a:solidFill>
                <a:latin typeface="Segoe UI"/>
              </a:rPr>
              <a:t>it should be able to try the change</a:t>
            </a:r>
          </a:p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E8ECF2"/>
                </a:solidFill>
                <a:latin typeface="Segoe UI"/>
              </a:rPr>
              <a:t>and see who pays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5A524"/>
                </a:solidFill>
                <a:latin typeface="Segoe UI"/>
              </a:rPr>
              <a:t>I built the place to try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A94A6"/>
                </a:solidFill>
                <a:latin typeface="Segoe UI"/>
              </a:rPr>
              <a:t>Ask me anything — including what does not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